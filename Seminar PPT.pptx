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d20f63c-eb6d-87a2-d448-2400ca93fbe2}">
          <p14:sldIdLst>
            <p14:sldId id="256"/>
            <p14:sldId id="257"/>
            <p14:sldId id="258"/>
            <p14:sldId id="259"/>
          </p14:sldIdLst>
        </p14:section>
        <p14:section name="Design" id="{f46ed403-7499-a3ad-5a50-066c8e2d0c59}">
          <p14:sldIdLst>
            <p14:sldId id="260"/>
            <p14:sldId id="261"/>
            <p14:sldId id="262"/>
            <p14:sldId id="263"/>
            <p14:sldId id="264"/>
          </p14:sldIdLst>
        </p14:section>
        <p14:section name="Results" id="{0d8ccf89-b87c-17b1-43f0-1361860de1c0}">
          <p14:sldIdLst>
            <p14:sldId id="265"/>
            <p14:sldId id="266"/>
          </p14:sldIdLst>
        </p14:section>
        <p14:section name="Wrap-up" id="{8dddf0c3-d071-b487-6565-37b9beeea52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small web app that checks whether a mobile number, PAN and Aadhaar number match the expected formats, using HTML, CSS, JavaScript and regular expressions. Mention team members and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fields, three regex patterns, zero server requests. Stress that this is a format check, not identity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project exists and what it sets 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scope: learning and demonstration only. It never touches government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building blocks. No server, no framework, no build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from opening the page to seeing the result. Note preventDefault stops the reload.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pattern aloud. The ^ and $ anchors matter: without them, a longer string containing a valid number would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PAN pattern into its three groups. Point out that the code uppercases the input before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regex constants and one example check. Failures are collected into an errors array; if it is empty the user sees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test cases: valid and invalid input for each field, plus an empty submission that the browser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validity is not authenticity. Treat Aadhaar and PAN as sensitive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project could go next, including the privacy practices needed if it ever handles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key point: this validates format, not identity.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548640" y="1005840"/>
            <a:ext cx="4754880" cy="1737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1"/>
          <p:cNvSpPr/>
          <p:nvPr>
            <p:ph idx="102" type="body" hasCustomPrompt="1"/>
          </p:nvPr>
        </p:nvSpPr>
        <p:spPr>
          <a:xfrm>
            <a:off x="548640" y="2880360"/>
            <a:ext cx="4754880" cy="64008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548640" y="914400"/>
            <a:ext cx="4754880" cy="11887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1"/>
          <p:cNvSpPr/>
          <p:nvPr>
            <p:ph idx="102" type="body" hasCustomPrompt="1"/>
          </p:nvPr>
        </p:nvSpPr>
        <p:spPr>
          <a:xfrm>
            <a:off x="548640" y="2286000"/>
            <a:ext cx="4754880" cy="137160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548640" y="502920"/>
            <a:ext cx="804672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1"/>
          <p:cNvSpPr txBox="1"/>
          <p:nvPr/>
        </p:nvSpPr>
        <p:spPr>
          <a:xfrm>
            <a:off x="548640" y="4681728"/>
            <a:ext cx="5486400" cy="274320"/>
          </a:xfrm>
          <a:prstGeom prst="rect">
            <a:avLst/>
          </a:prstGeom>
          <a:noFill/>
          <a:ln/>
        </p:spPr>
        <p:txBody>
          <a:bodyPr wrap="square" lIns="0" tIns="0" rIns="0" bIns="0" rtlCol="0" anchor="ctr"/>
          <a:lstStyle/>
          <a:p>
            <a:pPr indent="0" marL="0">
              <a:buNone/>
            </a:pPr>
            <a:r>
              <a:rPr lang="en-US" sz="1000" dirty="0">
                <a:solidFill>
                  <a:schemeClr val="tx2"/>
                </a:solidFill>
              </a:rPr>
              <a:t>Aadhaar / PAN / Mobile Number Validator</a:t>
            </a:r>
            <a:endParaRPr lang="en-US" sz="10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640080"/>
            <a:ext cx="4754880"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WEB DEVELOPMENT MINI PROJECT</a:t>
            </a:r>
            <a:endParaRPr lang="en-US" sz="1200" dirty="0"/>
          </a:p>
        </p:txBody>
      </p:sp>
      <p:sp>
        <p:nvSpPr>
          <p:cNvPr id="3" name="Text 1"/>
          <p:cNvSpPr/>
          <p:nvPr>
            <p:ph idx="101" type="title" hasCustomPrompt="1"/>
          </p:nvPr>
        </p:nvSpPr>
        <p:spPr>
          <a:xfrm>
            <a:off x="548640" y="1005840"/>
            <a:ext cx="4754880" cy="1737360"/>
          </a:xfrm>
          <a:prstGeom prst="rect">
            <a:avLst/>
          </a:prstGeom>
          <a:noFill/>
          <a:ln/>
        </p:spPr>
        <p:txBody>
          <a:bodyPr wrap="square" lIns="0" tIns="0" rIns="0" bIns="0" rtlCol="0" anchor="t"/>
          <a:lstStyle/>
          <a:p>
            <a:pPr algn="l" indent="0" marL="0">
              <a:buNone/>
            </a:pPr>
            <a:r>
              <a:rPr lang="en-US" sz="3200" b="1" dirty="0">
                <a:solidFill>
                  <a:schemeClr val="tx1"/>
                </a:solidFill>
              </a:rPr>
              <a:t>Aadhaar / PAN / Mobile Number Validator</a:t>
            </a:r>
            <a:endParaRPr lang="en-US" sz="3200" dirty="0"/>
          </a:p>
        </p:txBody>
      </p:sp>
      <p:sp>
        <p:nvSpPr>
          <p:cNvPr id="4" name="Text 1"/>
          <p:cNvSpPr/>
          <p:nvPr>
            <p:ph idx="102" type="body" hasCustomPrompt="1"/>
          </p:nvPr>
        </p:nvSpPr>
        <p:spPr>
          <a:xfrm>
            <a:off x="548640" y="2880360"/>
            <a:ext cx="4754880" cy="640080"/>
          </a:xfrm>
          <a:prstGeom prst="rect">
            <a:avLst/>
          </a:prstGeom>
          <a:noFill/>
          <a:ln/>
        </p:spPr>
        <p:txBody>
          <a:bodyPr wrap="square" lIns="0" tIns="0" rIns="0" bIns="0" rtlCol="0" anchor="t"/>
          <a:lstStyle/>
          <a:p>
            <a:pPr algn="l" indent="0" marL="0">
              <a:buNone/>
            </a:pPr>
            <a:r>
              <a:rPr lang="en-US" sz="1600" dirty="0">
                <a:solidFill>
                  <a:schemeClr val="tx2"/>
                </a:solidFill>
              </a:rPr>
              <a:t>Client-side input validation using HTML, CSS, JavaScript and Regex</a:t>
            </a:r>
            <a:endParaRPr lang="en-US" sz="1600" dirty="0"/>
          </a:p>
        </p:txBody>
      </p:sp>
      <p:sp>
        <p:nvSpPr>
          <p:cNvPr id="5" name="Team"/>
          <p:cNvSpPr txBox="1"/>
          <p:nvPr/>
        </p:nvSpPr>
        <p:spPr>
          <a:xfrm>
            <a:off x="548640" y="3611880"/>
            <a:ext cx="4754880" cy="54864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Pratham Tank  ·  12502080603015</a:t>
            </a:r>
            <a:endParaRPr lang="en-US" sz="1400" dirty="0"/>
          </a:p>
          <a:p>
            <a:pPr indent="0" marL="0">
              <a:spcAft>
                <a:spcPts val="400"/>
              </a:spcAft>
              <a:buNone/>
            </a:pPr>
            <a:r>
              <a:rPr lang="en-US" sz="1400" dirty="0">
                <a:solidFill>
                  <a:schemeClr val="tx1"/>
                </a:solidFill>
              </a:rPr>
              <a:t>Mahi Patel  ·  12502080603022</a:t>
            </a:r>
            <a:endParaRPr lang="en-US" sz="1400" dirty="0"/>
          </a:p>
        </p:txBody>
      </p:sp>
      <p:sp>
        <p:nvSpPr>
          <p:cNvPr id="6" name="Institute"/>
          <p:cNvSpPr txBox="1"/>
          <p:nvPr/>
        </p:nvSpPr>
        <p:spPr>
          <a:xfrm>
            <a:off x="548640" y="4434840"/>
            <a:ext cx="4937760" cy="274320"/>
          </a:xfrm>
          <a:prstGeom prst="rect">
            <a:avLst/>
          </a:prstGeom>
          <a:noFill/>
          <a:ln/>
        </p:spPr>
        <p:txBody>
          <a:bodyPr wrap="square" lIns="0" tIns="0" rIns="0" bIns="0" rtlCol="0" anchor="ctr"/>
          <a:lstStyle/>
          <a:p>
            <a:pPr indent="0" marL="0">
              <a:buNone/>
            </a:pPr>
            <a:r>
              <a:rPr lang="en-US" sz="1200" dirty="0">
                <a:solidFill>
                  <a:schemeClr val="tx2"/>
                </a:solidFill>
              </a:rPr>
              <a:t>A. D. Patel Institute of Technology  ·  Dept. of Information Technology</a:t>
            </a:r>
            <a:endParaRPr lang="en-US" sz="1200" dirty="0"/>
          </a:p>
        </p:txBody>
      </p:sp>
      <p:sp>
        <p:nvSpPr>
          <p:cNvPr id="7" name="Window frame"/>
          <p:cNvSpPr/>
          <p:nvPr/>
        </p:nvSpPr>
        <p:spPr>
          <a:xfrm>
            <a:off x="5669280" y="822960"/>
            <a:ext cx="3017520" cy="3520440"/>
          </a:xfrm>
          <a:prstGeom prst="roundRect">
            <a:avLst>
              <a:gd name="adj" fmla="val 3030"/>
            </a:avLst>
          </a:prstGeom>
          <a:solidFill>
            <a:schemeClr val="bg2"/>
          </a:solidFill>
          <a:ln w="12700">
            <a:solidFill>
              <a:schemeClr val="accent6"/>
            </a:solidFill>
            <a:prstDash val="solid"/>
          </a:ln>
        </p:spPr>
      </p:sp>
      <p:sp>
        <p:nvSpPr>
          <p:cNvPr id="8" name="Window dot 1"/>
          <p:cNvSpPr/>
          <p:nvPr/>
        </p:nvSpPr>
        <p:spPr>
          <a:xfrm>
            <a:off x="5852160" y="969264"/>
            <a:ext cx="109728" cy="109728"/>
          </a:xfrm>
          <a:prstGeom prst="ellipse">
            <a:avLst/>
          </a:prstGeom>
          <a:solidFill>
            <a:schemeClr val="accent3"/>
          </a:solidFill>
          <a:ln w="12700">
            <a:solidFill>
              <a:schemeClr val="accent3"/>
            </a:solidFill>
            <a:prstDash val="solid"/>
          </a:ln>
        </p:spPr>
      </p:sp>
      <p:sp>
        <p:nvSpPr>
          <p:cNvPr id="9" name="Window dot 2"/>
          <p:cNvSpPr/>
          <p:nvPr/>
        </p:nvSpPr>
        <p:spPr>
          <a:xfrm>
            <a:off x="6053328" y="969264"/>
            <a:ext cx="109728" cy="109728"/>
          </a:xfrm>
          <a:prstGeom prst="ellipse">
            <a:avLst/>
          </a:prstGeom>
          <a:solidFill>
            <a:schemeClr val="accent1"/>
          </a:solidFill>
          <a:ln w="12700">
            <a:solidFill>
              <a:schemeClr val="accent1"/>
            </a:solidFill>
            <a:prstDash val="solid"/>
          </a:ln>
        </p:spPr>
      </p:sp>
      <p:sp>
        <p:nvSpPr>
          <p:cNvPr id="10" name="Window dot 3"/>
          <p:cNvSpPr/>
          <p:nvPr/>
        </p:nvSpPr>
        <p:spPr>
          <a:xfrm>
            <a:off x="6254496" y="969264"/>
            <a:ext cx="109728" cy="109728"/>
          </a:xfrm>
          <a:prstGeom prst="ellipse">
            <a:avLst/>
          </a:prstGeom>
          <a:solidFill>
            <a:schemeClr val="accent2"/>
          </a:solidFill>
          <a:ln w="12700">
            <a:solidFill>
              <a:schemeClr val="accent2"/>
            </a:solidFill>
            <a:prstDash val="solid"/>
          </a:ln>
        </p:spPr>
      </p:sp>
      <p:sp>
        <p:nvSpPr>
          <p:cNvPr id="11" name="Field label 1"/>
          <p:cNvSpPr txBox="1"/>
          <p:nvPr/>
        </p:nvSpPr>
        <p:spPr>
          <a:xfrm>
            <a:off x="5852160" y="1298448"/>
            <a:ext cx="2651760" cy="201168"/>
          </a:xfrm>
          <a:prstGeom prst="rect">
            <a:avLst/>
          </a:prstGeom>
          <a:noFill/>
          <a:ln/>
        </p:spPr>
        <p:txBody>
          <a:bodyPr wrap="square" lIns="0" tIns="0" rIns="0" bIns="0" rtlCol="0" anchor="ctr"/>
          <a:lstStyle/>
          <a:p>
            <a:pPr indent="0" marL="0">
              <a:buNone/>
            </a:pPr>
            <a:r>
              <a:rPr lang="en-US" sz="1100" b="1" dirty="0">
                <a:solidFill>
                  <a:schemeClr val="tx2"/>
                </a:solidFill>
              </a:rPr>
              <a:t>Mobile Number</a:t>
            </a:r>
            <a:endParaRPr lang="en-US" sz="1100" dirty="0"/>
          </a:p>
        </p:txBody>
      </p:sp>
      <p:sp>
        <p:nvSpPr>
          <p:cNvPr id="12" name="Field input 1"/>
          <p:cNvSpPr/>
          <p:nvPr/>
        </p:nvSpPr>
        <p:spPr>
          <a:xfrm>
            <a:off x="5852160" y="1527048"/>
            <a:ext cx="2651760" cy="365760"/>
          </a:xfrm>
          <a:prstGeom prst="roundRect">
            <a:avLst>
              <a:gd name="adj" fmla="val 12500"/>
            </a:avLst>
          </a:prstGeom>
          <a:solidFill>
            <a:schemeClr val="bg1"/>
          </a:solidFill>
          <a:ln w="9525">
            <a:solidFill>
              <a:schemeClr val="accent6"/>
            </a:solidFill>
            <a:prstDash val="solid"/>
          </a:ln>
        </p:spPr>
      </p:sp>
      <p:sp>
        <p:nvSpPr>
          <p:cNvPr id="13" name="Field value 1"/>
          <p:cNvSpPr txBox="1"/>
          <p:nvPr/>
        </p:nvSpPr>
        <p:spPr>
          <a:xfrm>
            <a:off x="5961888" y="1527048"/>
            <a:ext cx="2011680" cy="365760"/>
          </a:xfrm>
          <a:prstGeom prst="rect">
            <a:avLst/>
          </a:prstGeom>
          <a:noFill/>
          <a:ln/>
        </p:spPr>
        <p:txBody>
          <a:bodyPr wrap="square" lIns="0" tIns="0" rIns="0" bIns="0" rtlCol="0" anchor="ctr"/>
          <a:lstStyle/>
          <a:p>
            <a:pPr indent="0" marL="0">
              <a:buNone/>
            </a:pPr>
            <a:r>
              <a:rPr lang="en-US" sz="1300" dirty="0">
                <a:solidFill>
                  <a:schemeClr val="tx1"/>
                </a:solidFill>
                <a:latin typeface="+mj-lt" pitchFamily="34" charset="0"/>
                <a:ea typeface="+mj-lt" pitchFamily="34" charset="-122"/>
                <a:cs typeface="+mj-lt" pitchFamily="34" charset="-120"/>
              </a:rPr>
              <a:t>9876543210</a:t>
            </a:r>
            <a:endParaRPr lang="en-US" sz="1300" dirty="0"/>
          </a:p>
        </p:txBody>
      </p:sp>
      <p:pic>
        <p:nvPicPr>
          <p:cNvPr id="14" name="Valid mark 1" descr="valid">    </p:cNvPr>
          <p:cNvPicPr>
            <a:picLocks noChangeAspect="1"/>
          </p:cNvPicPr>
          <p:nvPr/>
        </p:nvPicPr>
        <p:blipFill>
          <a:blip r:embed="rId1"/>
          <a:stretch>
            <a:fillRect/>
          </a:stretch>
        </p:blipFill>
        <p:spPr>
          <a:xfrm>
            <a:off x="8229600" y="1623060"/>
            <a:ext cx="173736" cy="173736"/>
          </a:xfrm>
          <a:prstGeom prst="rect">
            <a:avLst/>
          </a:prstGeom>
        </p:spPr>
      </p:pic>
      <p:sp>
        <p:nvSpPr>
          <p:cNvPr id="15" name="Field label 2"/>
          <p:cNvSpPr txBox="1"/>
          <p:nvPr/>
        </p:nvSpPr>
        <p:spPr>
          <a:xfrm>
            <a:off x="5852160" y="2029968"/>
            <a:ext cx="2651760" cy="201168"/>
          </a:xfrm>
          <a:prstGeom prst="rect">
            <a:avLst/>
          </a:prstGeom>
          <a:noFill/>
          <a:ln/>
        </p:spPr>
        <p:txBody>
          <a:bodyPr wrap="square" lIns="0" tIns="0" rIns="0" bIns="0" rtlCol="0" anchor="ctr"/>
          <a:lstStyle/>
          <a:p>
            <a:pPr indent="0" marL="0">
              <a:buNone/>
            </a:pPr>
            <a:r>
              <a:rPr lang="en-US" sz="1100" b="1" dirty="0">
                <a:solidFill>
                  <a:schemeClr val="tx2"/>
                </a:solidFill>
              </a:rPr>
              <a:t>PAN Card Number</a:t>
            </a:r>
            <a:endParaRPr lang="en-US" sz="1100" dirty="0"/>
          </a:p>
        </p:txBody>
      </p:sp>
      <p:sp>
        <p:nvSpPr>
          <p:cNvPr id="16" name="Field input 2"/>
          <p:cNvSpPr/>
          <p:nvPr/>
        </p:nvSpPr>
        <p:spPr>
          <a:xfrm>
            <a:off x="5852160" y="2258568"/>
            <a:ext cx="2651760" cy="365760"/>
          </a:xfrm>
          <a:prstGeom prst="roundRect">
            <a:avLst>
              <a:gd name="adj" fmla="val 12500"/>
            </a:avLst>
          </a:prstGeom>
          <a:solidFill>
            <a:schemeClr val="bg1"/>
          </a:solidFill>
          <a:ln w="9525">
            <a:solidFill>
              <a:schemeClr val="accent6"/>
            </a:solidFill>
            <a:prstDash val="solid"/>
          </a:ln>
        </p:spPr>
      </p:sp>
      <p:sp>
        <p:nvSpPr>
          <p:cNvPr id="17" name="Field value 2"/>
          <p:cNvSpPr txBox="1"/>
          <p:nvPr/>
        </p:nvSpPr>
        <p:spPr>
          <a:xfrm>
            <a:off x="5961888" y="2258568"/>
            <a:ext cx="2011680" cy="365760"/>
          </a:xfrm>
          <a:prstGeom prst="rect">
            <a:avLst/>
          </a:prstGeom>
          <a:noFill/>
          <a:ln/>
        </p:spPr>
        <p:txBody>
          <a:bodyPr wrap="square" lIns="0" tIns="0" rIns="0" bIns="0" rtlCol="0" anchor="ctr"/>
          <a:lstStyle/>
          <a:p>
            <a:pPr indent="0" marL="0">
              <a:buNone/>
            </a:pPr>
            <a:r>
              <a:rPr lang="en-US" sz="1300" dirty="0">
                <a:solidFill>
                  <a:schemeClr val="tx1"/>
                </a:solidFill>
                <a:latin typeface="+mj-lt" pitchFamily="34" charset="0"/>
                <a:ea typeface="+mj-lt" pitchFamily="34" charset="-122"/>
                <a:cs typeface="+mj-lt" pitchFamily="34" charset="-120"/>
              </a:rPr>
              <a:t>ABCDE1234F</a:t>
            </a:r>
            <a:endParaRPr lang="en-US" sz="1300" dirty="0"/>
          </a:p>
        </p:txBody>
      </p:sp>
      <p:pic>
        <p:nvPicPr>
          <p:cNvPr id="18" name="Valid mark 2" descr="valid">    </p:cNvPr>
          <p:cNvPicPr>
            <a:picLocks noChangeAspect="1"/>
          </p:cNvPicPr>
          <p:nvPr/>
        </p:nvPicPr>
        <p:blipFill>
          <a:blip r:embed="rId2"/>
          <a:stretch>
            <a:fillRect/>
          </a:stretch>
        </p:blipFill>
        <p:spPr>
          <a:xfrm>
            <a:off x="8229600" y="2354580"/>
            <a:ext cx="173736" cy="173736"/>
          </a:xfrm>
          <a:prstGeom prst="rect">
            <a:avLst/>
          </a:prstGeom>
        </p:spPr>
      </p:pic>
      <p:sp>
        <p:nvSpPr>
          <p:cNvPr id="19" name="Field label 3"/>
          <p:cNvSpPr txBox="1"/>
          <p:nvPr/>
        </p:nvSpPr>
        <p:spPr>
          <a:xfrm>
            <a:off x="5852160" y="2761488"/>
            <a:ext cx="2651760" cy="201168"/>
          </a:xfrm>
          <a:prstGeom prst="rect">
            <a:avLst/>
          </a:prstGeom>
          <a:noFill/>
          <a:ln/>
        </p:spPr>
        <p:txBody>
          <a:bodyPr wrap="square" lIns="0" tIns="0" rIns="0" bIns="0" rtlCol="0" anchor="ctr"/>
          <a:lstStyle/>
          <a:p>
            <a:pPr indent="0" marL="0">
              <a:buNone/>
            </a:pPr>
            <a:r>
              <a:rPr lang="en-US" sz="1100" b="1" dirty="0">
                <a:solidFill>
                  <a:schemeClr val="tx2"/>
                </a:solidFill>
              </a:rPr>
              <a:t>Aadhaar Number</a:t>
            </a:r>
            <a:endParaRPr lang="en-US" sz="1100" dirty="0"/>
          </a:p>
        </p:txBody>
      </p:sp>
      <p:sp>
        <p:nvSpPr>
          <p:cNvPr id="20" name="Field input 3"/>
          <p:cNvSpPr/>
          <p:nvPr/>
        </p:nvSpPr>
        <p:spPr>
          <a:xfrm>
            <a:off x="5852160" y="2990088"/>
            <a:ext cx="2651760" cy="365760"/>
          </a:xfrm>
          <a:prstGeom prst="roundRect">
            <a:avLst>
              <a:gd name="adj" fmla="val 12500"/>
            </a:avLst>
          </a:prstGeom>
          <a:solidFill>
            <a:schemeClr val="bg1"/>
          </a:solidFill>
          <a:ln w="9525">
            <a:solidFill>
              <a:schemeClr val="accent6"/>
            </a:solidFill>
            <a:prstDash val="solid"/>
          </a:ln>
        </p:spPr>
      </p:sp>
      <p:sp>
        <p:nvSpPr>
          <p:cNvPr id="21" name="Field value 3"/>
          <p:cNvSpPr txBox="1"/>
          <p:nvPr/>
        </p:nvSpPr>
        <p:spPr>
          <a:xfrm>
            <a:off x="5961888" y="2990088"/>
            <a:ext cx="2011680" cy="365760"/>
          </a:xfrm>
          <a:prstGeom prst="rect">
            <a:avLst/>
          </a:prstGeom>
          <a:noFill/>
          <a:ln/>
        </p:spPr>
        <p:txBody>
          <a:bodyPr wrap="square" lIns="0" tIns="0" rIns="0" bIns="0" rtlCol="0" anchor="ctr"/>
          <a:lstStyle/>
          <a:p>
            <a:pPr indent="0" marL="0">
              <a:buNone/>
            </a:pPr>
            <a:r>
              <a:rPr lang="en-US" sz="1300" dirty="0">
                <a:solidFill>
                  <a:schemeClr val="tx1"/>
                </a:solidFill>
                <a:latin typeface="+mj-lt" pitchFamily="34" charset="0"/>
                <a:ea typeface="+mj-lt" pitchFamily="34" charset="-122"/>
                <a:cs typeface="+mj-lt" pitchFamily="34" charset="-120"/>
              </a:rPr>
              <a:t>234567890123</a:t>
            </a:r>
            <a:endParaRPr lang="en-US" sz="1300" dirty="0"/>
          </a:p>
        </p:txBody>
      </p:sp>
      <p:pic>
        <p:nvPicPr>
          <p:cNvPr id="22" name="Valid mark 3" descr="valid">    </p:cNvPr>
          <p:cNvPicPr>
            <a:picLocks noChangeAspect="1"/>
          </p:cNvPicPr>
          <p:nvPr/>
        </p:nvPicPr>
        <p:blipFill>
          <a:blip r:embed="rId3"/>
          <a:stretch>
            <a:fillRect/>
          </a:stretch>
        </p:blipFill>
        <p:spPr>
          <a:xfrm>
            <a:off x="8229600" y="3086100"/>
            <a:ext cx="173736" cy="173736"/>
          </a:xfrm>
          <a:prstGeom prst="rect">
            <a:avLst/>
          </a:prstGeom>
        </p:spPr>
      </p:pic>
      <p:sp>
        <p:nvSpPr>
          <p:cNvPr id="23" name="Button"/>
          <p:cNvSpPr/>
          <p:nvPr/>
        </p:nvSpPr>
        <p:spPr>
          <a:xfrm>
            <a:off x="5852160" y="3520440"/>
            <a:ext cx="2651760" cy="365760"/>
          </a:xfrm>
          <a:prstGeom prst="roundRect">
            <a:avLst>
              <a:gd name="adj" fmla="val 12500"/>
            </a:avLst>
          </a:prstGeom>
          <a:solidFill>
            <a:schemeClr val="accent1"/>
          </a:solidFill>
          <a:ln w="12700">
            <a:solidFill>
              <a:schemeClr val="accent1"/>
            </a:solidFill>
            <a:prstDash val="solid"/>
          </a:ln>
        </p:spPr>
      </p:sp>
      <p:sp>
        <p:nvSpPr>
          <p:cNvPr id="24" name="Button label"/>
          <p:cNvSpPr txBox="1"/>
          <p:nvPr/>
        </p:nvSpPr>
        <p:spPr>
          <a:xfrm>
            <a:off x="5852160" y="3520440"/>
            <a:ext cx="2651760" cy="365760"/>
          </a:xfrm>
          <a:prstGeom prst="rect">
            <a:avLst/>
          </a:prstGeom>
          <a:noFill/>
          <a:ln/>
        </p:spPr>
        <p:txBody>
          <a:bodyPr wrap="square" lIns="0" tIns="0" rIns="0" bIns="0" rtlCol="0" anchor="ctr"/>
          <a:lstStyle/>
          <a:p>
            <a:pPr algn="ctr" indent="0" marL="0">
              <a:buNone/>
            </a:pPr>
            <a:r>
              <a:rPr lang="en-US" sz="1400" b="1" dirty="0">
                <a:solidFill>
                  <a:schemeClr val="bg1"/>
                </a:solidFill>
              </a:rPr>
              <a:t>Validate Details</a:t>
            </a:r>
            <a:endParaRPr lang="en-US" sz="1400" dirty="0"/>
          </a:p>
        </p:txBody>
      </p:sp>
      <p:sp>
        <p:nvSpPr>
          <p:cNvPr id="25" name="Result text"/>
          <p:cNvSpPr txBox="1"/>
          <p:nvPr/>
        </p:nvSpPr>
        <p:spPr>
          <a:xfrm>
            <a:off x="5852160" y="3950208"/>
            <a:ext cx="2651760" cy="274320"/>
          </a:xfrm>
          <a:prstGeom prst="rect">
            <a:avLst/>
          </a:prstGeom>
          <a:noFill/>
          <a:ln/>
        </p:spPr>
        <p:txBody>
          <a:bodyPr wrap="square" lIns="0" tIns="0" rIns="0" bIns="0" rtlCol="0" anchor="ctr"/>
          <a:lstStyle/>
          <a:p>
            <a:pPr algn="ctr" indent="0" marL="0">
              <a:buNone/>
            </a:pPr>
            <a:r>
              <a:rPr lang="en-US" sz="1100" b="1" dirty="0">
                <a:solidFill>
                  <a:schemeClr val="accent2"/>
                </a:solidFill>
              </a:rPr>
              <a:t>All three details have valid formats!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01 // OVERVIEW</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Project Overview</a:t>
            </a:r>
            <a:endParaRPr lang="en-US" sz="3000" dirty="0"/>
          </a:p>
        </p:txBody>
      </p:sp>
      <p:sp>
        <p:nvSpPr>
          <p:cNvPr id="4" name="Overview text"/>
          <p:cNvSpPr txBox="1"/>
          <p:nvPr/>
        </p:nvSpPr>
        <p:spPr>
          <a:xfrm>
            <a:off x="548640" y="1371600"/>
            <a:ext cx="4297680" cy="2011680"/>
          </a:xfrm>
          <a:prstGeom prst="rect">
            <a:avLst/>
          </a:prstGeom>
          <a:noFill/>
          <a:ln/>
        </p:spPr>
        <p:txBody>
          <a:bodyPr wrap="square" lIns="0" tIns="0" rIns="0" bIns="0" rtlCol="0" anchor="t"/>
          <a:lstStyle/>
          <a:p>
            <a:pPr indent="0" marL="0">
              <a:buNone/>
            </a:pPr>
            <a:r>
              <a:rPr lang="en-US" sz="1600" dirty="0">
                <a:solidFill>
                  <a:schemeClr val="tx1"/>
                </a:solidFill>
              </a:rPr>
              <a:t>A simple web app that checks whether an Indian mobile number, a PAN and an Aadhaar number follow the expected format. HTML gives the structure, CSS the look, and JavaScript with regular expressions does the checking. It all runs in the browser, so nothing is sent to a server.</a:t>
            </a:r>
            <a:endParaRPr lang="en-US" sz="1600" dirty="0"/>
          </a:p>
        </p:txBody>
      </p:sp>
      <p:sp>
        <p:nvSpPr>
          <p:cNvPr id="5" name="Format-only note card"/>
          <p:cNvSpPr/>
          <p:nvPr/>
        </p:nvSpPr>
        <p:spPr>
          <a:xfrm>
            <a:off x="548640" y="3566160"/>
            <a:ext cx="4297680" cy="914400"/>
          </a:xfrm>
          <a:prstGeom prst="roundRect">
            <a:avLst>
              <a:gd name="adj" fmla="val 8000"/>
            </a:avLst>
          </a:prstGeom>
          <a:solidFill>
            <a:schemeClr val="bg2"/>
          </a:solidFill>
          <a:ln w="9525">
            <a:solidFill>
              <a:schemeClr val="accent6"/>
            </a:solidFill>
            <a:prstDash val="solid"/>
          </a:ln>
        </p:spPr>
      </p:sp>
      <p:sp>
        <p:nvSpPr>
          <p:cNvPr id="6" name="Format-only note"/>
          <p:cNvSpPr txBox="1"/>
          <p:nvPr/>
        </p:nvSpPr>
        <p:spPr>
          <a:xfrm>
            <a:off x="731520" y="3566160"/>
            <a:ext cx="3931920" cy="914400"/>
          </a:xfrm>
          <a:prstGeom prst="rect">
            <a:avLst/>
          </a:prstGeom>
          <a:noFill/>
          <a:ln/>
        </p:spPr>
        <p:txBody>
          <a:bodyPr wrap="square" lIns="0" tIns="0" rIns="0" bIns="0" rtlCol="0" anchor="ctr"/>
          <a:lstStyle/>
          <a:p>
            <a:pPr indent="0" marL="0">
              <a:buNone/>
            </a:pPr>
            <a:r>
              <a:rPr lang="en-US" sz="1400" i="1" dirty="0">
                <a:solidFill>
                  <a:schemeClr val="tx2"/>
                </a:solidFill>
              </a:rPr>
              <a:t>Format checks only. It does not verify identity or confirm that a number was ever issued.</a:t>
            </a:r>
            <a:endParaRPr lang="en-US" sz="1400" dirty="0"/>
          </a:p>
        </p:txBody>
      </p:sp>
      <p:sp>
        <p:nvSpPr>
          <p:cNvPr id="7" name="Stat card 1"/>
          <p:cNvSpPr/>
          <p:nvPr/>
        </p:nvSpPr>
        <p:spPr>
          <a:xfrm>
            <a:off x="5212080" y="1371600"/>
            <a:ext cx="3383280" cy="914400"/>
          </a:xfrm>
          <a:prstGeom prst="roundRect">
            <a:avLst>
              <a:gd name="adj" fmla="val 8000"/>
            </a:avLst>
          </a:prstGeom>
          <a:solidFill>
            <a:schemeClr val="bg2"/>
          </a:solidFill>
          <a:ln w="9525">
            <a:solidFill>
              <a:schemeClr val="accent6"/>
            </a:solidFill>
            <a:prstDash val="solid"/>
          </a:ln>
        </p:spPr>
      </p:sp>
      <p:sp>
        <p:nvSpPr>
          <p:cNvPr id="8" name="Stat value 1"/>
          <p:cNvSpPr txBox="1"/>
          <p:nvPr/>
        </p:nvSpPr>
        <p:spPr>
          <a:xfrm>
            <a:off x="5349240" y="1371600"/>
            <a:ext cx="82296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9" name="Stat label 1"/>
          <p:cNvSpPr txBox="1"/>
          <p:nvPr/>
        </p:nvSpPr>
        <p:spPr>
          <a:xfrm>
            <a:off x="6263640" y="1371600"/>
            <a:ext cx="2194560" cy="914400"/>
          </a:xfrm>
          <a:prstGeom prst="rect">
            <a:avLst/>
          </a:prstGeom>
          <a:noFill/>
          <a:ln/>
        </p:spPr>
        <p:txBody>
          <a:bodyPr wrap="square" lIns="0" tIns="0" rIns="0" bIns="0" rtlCol="0" anchor="ctr"/>
          <a:lstStyle/>
          <a:p>
            <a:pPr indent="0" marL="0">
              <a:buNone/>
            </a:pPr>
            <a:r>
              <a:rPr lang="en-US" sz="1400" dirty="0">
                <a:solidFill>
                  <a:schemeClr val="tx1"/>
                </a:solidFill>
              </a:rPr>
              <a:t>fields validated: mobile, PAN, Aadhaar</a:t>
            </a:r>
            <a:endParaRPr lang="en-US" sz="1400" dirty="0"/>
          </a:p>
        </p:txBody>
      </p:sp>
      <p:sp>
        <p:nvSpPr>
          <p:cNvPr id="10" name="Stat card 2"/>
          <p:cNvSpPr/>
          <p:nvPr/>
        </p:nvSpPr>
        <p:spPr>
          <a:xfrm>
            <a:off x="5212080" y="2468880"/>
            <a:ext cx="3383280" cy="914400"/>
          </a:xfrm>
          <a:prstGeom prst="roundRect">
            <a:avLst>
              <a:gd name="adj" fmla="val 8000"/>
            </a:avLst>
          </a:prstGeom>
          <a:solidFill>
            <a:schemeClr val="bg2"/>
          </a:solidFill>
          <a:ln w="9525">
            <a:solidFill>
              <a:schemeClr val="accent6"/>
            </a:solidFill>
            <a:prstDash val="solid"/>
          </a:ln>
        </p:spPr>
      </p:sp>
      <p:sp>
        <p:nvSpPr>
          <p:cNvPr id="11" name="Stat value 2"/>
          <p:cNvSpPr txBox="1"/>
          <p:nvPr/>
        </p:nvSpPr>
        <p:spPr>
          <a:xfrm>
            <a:off x="5349240" y="2468880"/>
            <a:ext cx="82296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12" name="Stat label 2"/>
          <p:cNvSpPr txBox="1"/>
          <p:nvPr/>
        </p:nvSpPr>
        <p:spPr>
          <a:xfrm>
            <a:off x="6263640" y="2468880"/>
            <a:ext cx="2194560" cy="914400"/>
          </a:xfrm>
          <a:prstGeom prst="rect">
            <a:avLst/>
          </a:prstGeom>
          <a:noFill/>
          <a:ln/>
        </p:spPr>
        <p:txBody>
          <a:bodyPr wrap="square" lIns="0" tIns="0" rIns="0" bIns="0" rtlCol="0" anchor="ctr"/>
          <a:lstStyle/>
          <a:p>
            <a:pPr indent="0" marL="0">
              <a:buNone/>
            </a:pPr>
            <a:r>
              <a:rPr lang="en-US" sz="1400" dirty="0">
                <a:solidFill>
                  <a:schemeClr val="tx1"/>
                </a:solidFill>
              </a:rPr>
              <a:t>regular expressions, one per field</a:t>
            </a:r>
            <a:endParaRPr lang="en-US" sz="1400" dirty="0"/>
          </a:p>
        </p:txBody>
      </p:sp>
      <p:sp>
        <p:nvSpPr>
          <p:cNvPr id="13" name="Stat card 3"/>
          <p:cNvSpPr/>
          <p:nvPr/>
        </p:nvSpPr>
        <p:spPr>
          <a:xfrm>
            <a:off x="5212080" y="3566160"/>
            <a:ext cx="3383280" cy="914400"/>
          </a:xfrm>
          <a:prstGeom prst="roundRect">
            <a:avLst>
              <a:gd name="adj" fmla="val 8000"/>
            </a:avLst>
          </a:prstGeom>
          <a:solidFill>
            <a:schemeClr val="bg2"/>
          </a:solidFill>
          <a:ln w="9525">
            <a:solidFill>
              <a:schemeClr val="accent6"/>
            </a:solidFill>
            <a:prstDash val="solid"/>
          </a:ln>
        </p:spPr>
      </p:sp>
      <p:sp>
        <p:nvSpPr>
          <p:cNvPr id="14" name="Stat value 3"/>
          <p:cNvSpPr txBox="1"/>
          <p:nvPr/>
        </p:nvSpPr>
        <p:spPr>
          <a:xfrm>
            <a:off x="5349240" y="3566160"/>
            <a:ext cx="82296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0</a:t>
            </a:r>
            <a:endParaRPr lang="en-US" sz="4400" dirty="0"/>
          </a:p>
        </p:txBody>
      </p:sp>
      <p:sp>
        <p:nvSpPr>
          <p:cNvPr id="15" name="Stat label 3"/>
          <p:cNvSpPr txBox="1"/>
          <p:nvPr/>
        </p:nvSpPr>
        <p:spPr>
          <a:xfrm>
            <a:off x="6263640" y="3566160"/>
            <a:ext cx="2194560" cy="914400"/>
          </a:xfrm>
          <a:prstGeom prst="rect">
            <a:avLst/>
          </a:prstGeom>
          <a:noFill/>
          <a:ln/>
        </p:spPr>
        <p:txBody>
          <a:bodyPr wrap="square" lIns="0" tIns="0" rIns="0" bIns="0" rtlCol="0" anchor="ctr"/>
          <a:lstStyle/>
          <a:p>
            <a:pPr indent="0" marL="0">
              <a:buNone/>
            </a:pPr>
            <a:r>
              <a:rPr lang="en-US" sz="1400" dirty="0">
                <a:solidFill>
                  <a:schemeClr val="tx1"/>
                </a:solidFill>
              </a:rPr>
              <a:t>server requests: checks run in the browser</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02 // WHY</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Problem &amp; Objectives</a:t>
            </a:r>
            <a:endParaRPr lang="en-US" sz="3000" dirty="0"/>
          </a:p>
        </p:txBody>
      </p:sp>
      <p:sp>
        <p:nvSpPr>
          <p:cNvPr id="4" name="Problem card"/>
          <p:cNvSpPr/>
          <p:nvPr/>
        </p:nvSpPr>
        <p:spPr>
          <a:xfrm>
            <a:off x="548640" y="1371600"/>
            <a:ext cx="3383280" cy="3108960"/>
          </a:xfrm>
          <a:prstGeom prst="roundRect">
            <a:avLst>
              <a:gd name="adj" fmla="val 2353"/>
            </a:avLst>
          </a:prstGeom>
          <a:solidFill>
            <a:schemeClr val="bg2"/>
          </a:solidFill>
          <a:ln w="9525">
            <a:solidFill>
              <a:schemeClr val="accent6"/>
            </a:solidFill>
            <a:prstDash val="solid"/>
          </a:ln>
        </p:spPr>
      </p:sp>
      <p:sp>
        <p:nvSpPr>
          <p:cNvPr id="5" name="Problem heading"/>
          <p:cNvSpPr txBox="1"/>
          <p:nvPr/>
        </p:nvSpPr>
        <p:spPr>
          <a:xfrm>
            <a:off x="777240" y="1554480"/>
            <a:ext cx="2926080" cy="274320"/>
          </a:xfrm>
          <a:prstGeom prst="rect">
            <a:avLst/>
          </a:prstGeom>
          <a:noFill/>
          <a:ln/>
        </p:spPr>
        <p:txBody>
          <a:bodyPr wrap="square" lIns="0" tIns="0" rIns="0" bIns="0" rtlCol="0" anchor="ctr"/>
          <a:lstStyle/>
          <a:p>
            <a:pPr indent="0" marL="0">
              <a:buNone/>
            </a:pPr>
            <a:r>
              <a:rPr lang="en-US" sz="1400" b="1" spc="100" kern="0" dirty="0">
                <a:solidFill>
                  <a:schemeClr val="accent3"/>
                </a:solidFill>
                <a:latin typeface="+mj-lt" pitchFamily="34" charset="0"/>
                <a:ea typeface="+mj-lt" pitchFamily="34" charset="-122"/>
                <a:cs typeface="+mj-lt" pitchFamily="34" charset="-120"/>
              </a:rPr>
              <a:t>THE PROBLEM</a:t>
            </a:r>
            <a:endParaRPr lang="en-US" sz="1400" dirty="0"/>
          </a:p>
        </p:txBody>
      </p:sp>
      <p:sp>
        <p:nvSpPr>
          <p:cNvPr id="6" name="Problem text"/>
          <p:cNvSpPr txBox="1"/>
          <p:nvPr/>
        </p:nvSpPr>
        <p:spPr>
          <a:xfrm>
            <a:off x="777240" y="1965960"/>
            <a:ext cx="2926080" cy="2286000"/>
          </a:xfrm>
          <a:prstGeom prst="rect">
            <a:avLst/>
          </a:prstGeom>
          <a:noFill/>
          <a:ln/>
        </p:spPr>
        <p:txBody>
          <a:bodyPr wrap="square" lIns="0" tIns="0" rIns="0" bIns="0" rtlCol="0" anchor="t"/>
          <a:lstStyle/>
          <a:p>
            <a:pPr indent="0" marL="0">
              <a:buNone/>
            </a:pPr>
            <a:r>
              <a:rPr lang="en-US" sz="1400" dirty="0">
                <a:solidFill>
                  <a:schemeClr val="tx1"/>
                </a:solidFill>
              </a:rPr>
              <a:t>Checking mobile and ID-number formats by hand is error-prone and lets badly formatted data into a system.</a:t>
            </a:r>
            <a:endParaRPr lang="en-US" sz="1400" dirty="0"/>
          </a:p>
          <a:p>
            <a:pPr indent="0" marL="0">
              <a:buNone/>
            </a:pPr>
            <a:endParaRPr lang="en-US" sz="1400" dirty="0"/>
          </a:p>
          <a:p>
            <a:pPr indent="0" marL="0">
              <a:buNone/>
            </a:pPr>
            <a:r>
              <a:rPr lang="en-US" sz="1400" dirty="0">
                <a:solidFill>
                  <a:schemeClr val="tx1"/>
                </a:solidFill>
              </a:rPr>
              <a:t>A lightweight client-side validator can check common patterns and give instant feedback to the user.</a:t>
            </a:r>
            <a:endParaRPr lang="en-US" sz="1400" dirty="0"/>
          </a:p>
        </p:txBody>
      </p:sp>
      <p:sp>
        <p:nvSpPr>
          <p:cNvPr id="7" name="Objectives card"/>
          <p:cNvSpPr/>
          <p:nvPr/>
        </p:nvSpPr>
        <p:spPr>
          <a:xfrm>
            <a:off x="4114800" y="1371600"/>
            <a:ext cx="4480560" cy="3108960"/>
          </a:xfrm>
          <a:prstGeom prst="roundRect">
            <a:avLst>
              <a:gd name="adj" fmla="val 2353"/>
            </a:avLst>
          </a:prstGeom>
          <a:solidFill>
            <a:schemeClr val="bg2"/>
          </a:solidFill>
          <a:ln w="9525">
            <a:solidFill>
              <a:schemeClr val="accent6"/>
            </a:solidFill>
            <a:prstDash val="solid"/>
          </a:ln>
        </p:spPr>
      </p:sp>
      <p:sp>
        <p:nvSpPr>
          <p:cNvPr id="8" name="Objectives heading"/>
          <p:cNvSpPr txBox="1"/>
          <p:nvPr/>
        </p:nvSpPr>
        <p:spPr>
          <a:xfrm>
            <a:off x="4343400" y="1554480"/>
            <a:ext cx="4023360" cy="274320"/>
          </a:xfrm>
          <a:prstGeom prst="rect">
            <a:avLst/>
          </a:prstGeom>
          <a:noFill/>
          <a:ln/>
        </p:spPr>
        <p:txBody>
          <a:bodyPr wrap="square" lIns="0" tIns="0" rIns="0" bIns="0" rtlCol="0" anchor="ctr"/>
          <a:lstStyle/>
          <a:p>
            <a:pPr indent="0" marL="0">
              <a:buNone/>
            </a:pPr>
            <a:r>
              <a:rPr lang="en-US" sz="1400" b="1" spc="100" kern="0" dirty="0">
                <a:solidFill>
                  <a:schemeClr val="accent2"/>
                </a:solidFill>
                <a:latin typeface="+mj-lt" pitchFamily="34" charset="0"/>
                <a:ea typeface="+mj-lt" pitchFamily="34" charset="-122"/>
                <a:cs typeface="+mj-lt" pitchFamily="34" charset="-120"/>
              </a:rPr>
              <a:t>OBJECTIVES</a:t>
            </a:r>
            <a:endParaRPr lang="en-US" sz="1400" dirty="0"/>
          </a:p>
        </p:txBody>
      </p:sp>
      <p:sp>
        <p:nvSpPr>
          <p:cNvPr id="9" name="Objectives list"/>
          <p:cNvSpPr txBox="1"/>
          <p:nvPr/>
        </p:nvSpPr>
        <p:spPr>
          <a:xfrm>
            <a:off x="4343400" y="1965960"/>
            <a:ext cx="4023360" cy="23774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Build a simple, user-friendly web form</a:t>
            </a:r>
            <a:endParaRPr lang="en-US" sz="1400" dirty="0"/>
          </a:p>
          <a:p>
            <a:pPr marL="177800" indent="-177800">
              <a:spcAft>
                <a:spcPts val="800"/>
              </a:spcAft>
              <a:buSzPct val="100000"/>
              <a:buChar char="•"/>
            </a:pPr>
            <a:r>
              <a:rPr lang="en-US" sz="1400" dirty="0">
                <a:solidFill>
                  <a:schemeClr val="tx1"/>
                </a:solidFill>
              </a:rPr>
              <a:t>Validate a 10-digit mobile number with Regex</a:t>
            </a:r>
            <a:endParaRPr lang="en-US" sz="1400" dirty="0"/>
          </a:p>
          <a:p>
            <a:pPr marL="177800" indent="-177800">
              <a:spcAft>
                <a:spcPts val="800"/>
              </a:spcAft>
              <a:buSzPct val="100000"/>
              <a:buChar char="•"/>
            </a:pPr>
            <a:r>
              <a:rPr lang="en-US" sz="1400" dirty="0">
                <a:solidFill>
                  <a:schemeClr val="tx1"/>
                </a:solidFill>
              </a:rPr>
              <a:t>Validate the standard PAN format</a:t>
            </a:r>
            <a:endParaRPr lang="en-US" sz="1400" dirty="0"/>
          </a:p>
          <a:p>
            <a:pPr marL="177800" indent="-177800">
              <a:spcAft>
                <a:spcPts val="800"/>
              </a:spcAft>
              <a:buSzPct val="100000"/>
              <a:buChar char="•"/>
            </a:pPr>
            <a:r>
              <a:rPr lang="en-US" sz="1400" dirty="0">
                <a:solidFill>
                  <a:schemeClr val="tx1"/>
                </a:solidFill>
              </a:rPr>
              <a:t>Validate the basic 12-digit Aadhaar format</a:t>
            </a:r>
            <a:endParaRPr lang="en-US" sz="1400" dirty="0"/>
          </a:p>
          <a:p>
            <a:pPr marL="177800" indent="-177800">
              <a:spcAft>
                <a:spcPts val="800"/>
              </a:spcAft>
              <a:buSzPct val="100000"/>
              <a:buChar char="•"/>
            </a:pPr>
            <a:r>
              <a:rPr lang="en-US" sz="1400" dirty="0">
                <a:solidFill>
                  <a:schemeClr val="tx1"/>
                </a:solidFill>
              </a:rPr>
              <a:t>Show clear success or error messages</a:t>
            </a:r>
            <a:endParaRPr lang="en-US" sz="1400" dirty="0"/>
          </a:p>
          <a:p>
            <a:pPr marL="177800" indent="-177800">
              <a:spcAft>
                <a:spcPts val="800"/>
              </a:spcAft>
              <a:buSzPct val="100000"/>
              <a:buChar char="•"/>
            </a:pPr>
            <a:r>
              <a:rPr lang="en-US" sz="1400" dirty="0">
                <a:solidFill>
                  <a:schemeClr val="tx1"/>
                </a:solidFill>
              </a:rPr>
              <a:t>Demonstrate form handling, CSS and JS events</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03 // SCOPE</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Project Scope</a:t>
            </a:r>
            <a:endParaRPr lang="en-US" sz="3000" dirty="0"/>
          </a:p>
        </p:txBody>
      </p:sp>
      <p:sp>
        <p:nvSpPr>
          <p:cNvPr id="4" name="Scope card 1"/>
          <p:cNvSpPr/>
          <p:nvPr/>
        </p:nvSpPr>
        <p:spPr>
          <a:xfrm>
            <a:off x="548640" y="1371600"/>
            <a:ext cx="3931920" cy="3108960"/>
          </a:xfrm>
          <a:prstGeom prst="roundRect">
            <a:avLst>
              <a:gd name="adj" fmla="val 2353"/>
            </a:avLst>
          </a:prstGeom>
          <a:solidFill>
            <a:schemeClr val="bg2"/>
          </a:solidFill>
          <a:ln w="9525">
            <a:solidFill>
              <a:schemeClr val="accent6"/>
            </a:solidFill>
            <a:prstDash val="solid"/>
          </a:ln>
        </p:spPr>
      </p:sp>
      <p:pic>
        <p:nvPicPr>
          <p:cNvPr id="5" name="Scope icon 1" descr="WHAT IT DOES">    </p:cNvPr>
          <p:cNvPicPr>
            <a:picLocks noChangeAspect="1"/>
          </p:cNvPicPr>
          <p:nvPr/>
        </p:nvPicPr>
        <p:blipFill>
          <a:blip r:embed="rId1"/>
          <a:stretch>
            <a:fillRect/>
          </a:stretch>
        </p:blipFill>
        <p:spPr>
          <a:xfrm>
            <a:off x="777240" y="1600200"/>
            <a:ext cx="292608" cy="292608"/>
          </a:xfrm>
          <a:prstGeom prst="rect">
            <a:avLst/>
          </a:prstGeom>
        </p:spPr>
      </p:pic>
      <p:sp>
        <p:nvSpPr>
          <p:cNvPr id="6" name="Scope heading 1"/>
          <p:cNvSpPr txBox="1"/>
          <p:nvPr/>
        </p:nvSpPr>
        <p:spPr>
          <a:xfrm>
            <a:off x="1188720" y="1600200"/>
            <a:ext cx="3108960" cy="292608"/>
          </a:xfrm>
          <a:prstGeom prst="rect">
            <a:avLst/>
          </a:prstGeom>
          <a:noFill/>
          <a:ln/>
        </p:spPr>
        <p:txBody>
          <a:bodyPr wrap="square" lIns="0" tIns="0" rIns="0" bIns="0" rtlCol="0" anchor="ctr"/>
          <a:lstStyle/>
          <a:p>
            <a:pPr indent="0" marL="0">
              <a:buNone/>
            </a:pPr>
            <a:r>
              <a:rPr lang="en-US" sz="1400" b="1" spc="100" kern="0" dirty="0">
                <a:solidFill>
                  <a:schemeClr val="accent2"/>
                </a:solidFill>
                <a:latin typeface="+mj-lt" pitchFamily="34" charset="0"/>
                <a:ea typeface="+mj-lt" pitchFamily="34" charset="-122"/>
                <a:cs typeface="+mj-lt" pitchFamily="34" charset="-120"/>
              </a:rPr>
              <a:t>WHAT IT DOES</a:t>
            </a:r>
            <a:endParaRPr lang="en-US" sz="1400" dirty="0"/>
          </a:p>
        </p:txBody>
      </p:sp>
      <p:sp>
        <p:nvSpPr>
          <p:cNvPr id="7" name="Scope list 1"/>
          <p:cNvSpPr txBox="1"/>
          <p:nvPr/>
        </p:nvSpPr>
        <p:spPr>
          <a:xfrm>
            <a:off x="777240" y="2148840"/>
            <a:ext cx="3474720" cy="210312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Checks the format of values typed into a browser form</a:t>
            </a:r>
            <a:endParaRPr lang="en-US" sz="1500" dirty="0"/>
          </a:p>
          <a:p>
            <a:pPr marL="177800" indent="-177800">
              <a:spcAft>
                <a:spcPts val="800"/>
              </a:spcAft>
              <a:buSzPct val="100000"/>
              <a:buChar char="•"/>
            </a:pPr>
            <a:r>
              <a:rPr lang="en-US" sz="1500" dirty="0">
                <a:solidFill>
                  <a:schemeClr val="tx1"/>
                </a:solidFill>
              </a:rPr>
              <a:t>Validates when the form is submitted</a:t>
            </a:r>
            <a:endParaRPr lang="en-US" sz="1500" dirty="0"/>
          </a:p>
          <a:p>
            <a:pPr marL="177800" indent="-177800">
              <a:spcAft>
                <a:spcPts val="800"/>
              </a:spcAft>
              <a:buSzPct val="100000"/>
              <a:buChar char="•"/>
            </a:pPr>
            <a:r>
              <a:rPr lang="en-US" sz="1500" dirty="0">
                <a:solidFill>
                  <a:schemeClr val="tx1"/>
                </a:solidFill>
              </a:rPr>
              <a:t>Runs locally, with no server needed</a:t>
            </a:r>
            <a:endParaRPr lang="en-US" sz="1500" dirty="0"/>
          </a:p>
        </p:txBody>
      </p:sp>
      <p:sp>
        <p:nvSpPr>
          <p:cNvPr id="8" name="Scope card 2"/>
          <p:cNvSpPr/>
          <p:nvPr/>
        </p:nvSpPr>
        <p:spPr>
          <a:xfrm>
            <a:off x="4663440" y="1371600"/>
            <a:ext cx="3931920" cy="3108960"/>
          </a:xfrm>
          <a:prstGeom prst="roundRect">
            <a:avLst>
              <a:gd name="adj" fmla="val 2353"/>
            </a:avLst>
          </a:prstGeom>
          <a:solidFill>
            <a:schemeClr val="bg2"/>
          </a:solidFill>
          <a:ln w="9525">
            <a:solidFill>
              <a:schemeClr val="accent6"/>
            </a:solidFill>
            <a:prstDash val="solid"/>
          </a:ln>
        </p:spPr>
      </p:sp>
      <p:pic>
        <p:nvPicPr>
          <p:cNvPr id="9" name="Scope icon 2" descr="WHAT IT DOES NOT DO">    </p:cNvPr>
          <p:cNvPicPr>
            <a:picLocks noChangeAspect="1"/>
          </p:cNvPicPr>
          <p:nvPr/>
        </p:nvPicPr>
        <p:blipFill>
          <a:blip r:embed="rId2"/>
          <a:stretch>
            <a:fillRect/>
          </a:stretch>
        </p:blipFill>
        <p:spPr>
          <a:xfrm>
            <a:off x="4892040" y="1600200"/>
            <a:ext cx="292608" cy="292608"/>
          </a:xfrm>
          <a:prstGeom prst="rect">
            <a:avLst/>
          </a:prstGeom>
        </p:spPr>
      </p:pic>
      <p:sp>
        <p:nvSpPr>
          <p:cNvPr id="10" name="Scope heading 2"/>
          <p:cNvSpPr txBox="1"/>
          <p:nvPr/>
        </p:nvSpPr>
        <p:spPr>
          <a:xfrm>
            <a:off x="5303520" y="1600200"/>
            <a:ext cx="3108960" cy="292608"/>
          </a:xfrm>
          <a:prstGeom prst="rect">
            <a:avLst/>
          </a:prstGeom>
          <a:noFill/>
          <a:ln/>
        </p:spPr>
        <p:txBody>
          <a:bodyPr wrap="square" lIns="0" tIns="0" rIns="0" bIns="0" rtlCol="0" anchor="ctr"/>
          <a:lstStyle/>
          <a:p>
            <a:pPr indent="0" marL="0">
              <a:buNone/>
            </a:pPr>
            <a:r>
              <a:rPr lang="en-US" sz="1400" b="1" spc="100" kern="0" dirty="0">
                <a:solidFill>
                  <a:schemeClr val="accent3"/>
                </a:solidFill>
                <a:latin typeface="+mj-lt" pitchFamily="34" charset="0"/>
                <a:ea typeface="+mj-lt" pitchFamily="34" charset="-122"/>
                <a:cs typeface="+mj-lt" pitchFamily="34" charset="-120"/>
              </a:rPr>
              <a:t>WHAT IT DOES NOT DO</a:t>
            </a:r>
            <a:endParaRPr lang="en-US" sz="1400" dirty="0"/>
          </a:p>
        </p:txBody>
      </p:sp>
      <p:sp>
        <p:nvSpPr>
          <p:cNvPr id="11" name="Scope list 2"/>
          <p:cNvSpPr txBox="1"/>
          <p:nvPr/>
        </p:nvSpPr>
        <p:spPr>
          <a:xfrm>
            <a:off x="4892040" y="2148840"/>
            <a:ext cx="3474720" cy="210312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Contact government databases</a:t>
            </a:r>
            <a:endParaRPr lang="en-US" sz="1500" dirty="0"/>
          </a:p>
          <a:p>
            <a:pPr marL="177800" indent="-177800">
              <a:spcAft>
                <a:spcPts val="800"/>
              </a:spcAft>
              <a:buSzPct val="100000"/>
              <a:buChar char="•"/>
            </a:pPr>
            <a:r>
              <a:rPr lang="en-US" sz="1500" dirty="0">
                <a:solidFill>
                  <a:schemeClr val="tx1"/>
                </a:solidFill>
              </a:rPr>
              <a:t>Verify ownership or that a number was issued</a:t>
            </a:r>
            <a:endParaRPr lang="en-US" sz="1500" dirty="0"/>
          </a:p>
          <a:p>
            <a:pPr marL="177800" indent="-177800">
              <a:spcAft>
                <a:spcPts val="800"/>
              </a:spcAft>
              <a:buSzPct val="100000"/>
              <a:buChar char="•"/>
            </a:pPr>
            <a:r>
              <a:rPr lang="en-US" sz="1500" dirty="0">
                <a:solidFill>
                  <a:schemeClr val="tx1"/>
                </a:solidFill>
              </a:rPr>
              <a:t>Establish a person's identity</a:t>
            </a:r>
            <a:endParaRPr lang="en-US" sz="15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04 // STACK</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Tools &amp; Technologies</a:t>
            </a:r>
            <a:endParaRPr lang="en-US" sz="3000" dirty="0"/>
          </a:p>
        </p:txBody>
      </p:sp>
      <p:sp>
        <p:nvSpPr>
          <p:cNvPr id="4" name="Tech card 1"/>
          <p:cNvSpPr/>
          <p:nvPr/>
        </p:nvSpPr>
        <p:spPr>
          <a:xfrm>
            <a:off x="548640" y="1371600"/>
            <a:ext cx="1828800" cy="2240280"/>
          </a:xfrm>
          <a:prstGeom prst="roundRect">
            <a:avLst>
              <a:gd name="adj" fmla="val 4000"/>
            </a:avLst>
          </a:prstGeom>
          <a:solidFill>
            <a:schemeClr val="bg2"/>
          </a:solidFill>
          <a:ln w="9525">
            <a:solidFill>
              <a:schemeClr val="accent6"/>
            </a:solidFill>
            <a:prstDash val="solid"/>
          </a:ln>
        </p:spPr>
      </p:sp>
      <p:sp>
        <p:nvSpPr>
          <p:cNvPr id="5" name="HTML5 icon circle"/>
          <p:cNvSpPr/>
          <p:nvPr/>
        </p:nvSpPr>
        <p:spPr>
          <a:xfrm>
            <a:off x="731520" y="1554480"/>
            <a:ext cx="566928" cy="566928"/>
          </a:xfrm>
          <a:prstGeom prst="ellipse">
            <a:avLst/>
          </a:prstGeom>
          <a:solidFill>
            <a:schemeClr val="bg1"/>
          </a:solidFill>
          <a:ln w="9525">
            <a:solidFill>
              <a:schemeClr val="accent6"/>
            </a:solidFill>
            <a:prstDash val="solid"/>
          </a:ln>
        </p:spPr>
      </p:sp>
      <p:pic>
        <p:nvPicPr>
          <p:cNvPr id="6" name="HTML5 icon" descr="HTML5 icon">    </p:cNvPr>
          <p:cNvPicPr>
            <a:picLocks noChangeAspect="1"/>
          </p:cNvPicPr>
          <p:nvPr/>
        </p:nvPicPr>
        <p:blipFill>
          <a:blip r:embed="rId1"/>
          <a:stretch>
            <a:fillRect/>
          </a:stretch>
        </p:blipFill>
        <p:spPr>
          <a:xfrm>
            <a:off x="890260" y="1713220"/>
            <a:ext cx="249448" cy="249448"/>
          </a:xfrm>
          <a:prstGeom prst="rect">
            <a:avLst/>
          </a:prstGeom>
        </p:spPr>
      </p:pic>
      <p:sp>
        <p:nvSpPr>
          <p:cNvPr id="7" name="Tech name 1"/>
          <p:cNvSpPr txBox="1"/>
          <p:nvPr/>
        </p:nvSpPr>
        <p:spPr>
          <a:xfrm>
            <a:off x="731520" y="2286000"/>
            <a:ext cx="1463040" cy="3200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HTML5</a:t>
            </a:r>
            <a:endParaRPr lang="en-US" sz="1800" dirty="0"/>
          </a:p>
        </p:txBody>
      </p:sp>
      <p:sp>
        <p:nvSpPr>
          <p:cNvPr id="8" name="Tech desc 1"/>
          <p:cNvSpPr txBox="1"/>
          <p:nvPr/>
        </p:nvSpPr>
        <p:spPr>
          <a:xfrm>
            <a:off x="731520" y="2651760"/>
            <a:ext cx="1508760" cy="914400"/>
          </a:xfrm>
          <a:prstGeom prst="rect">
            <a:avLst/>
          </a:prstGeom>
          <a:noFill/>
          <a:ln/>
        </p:spPr>
        <p:txBody>
          <a:bodyPr wrap="square" lIns="0" tIns="0" rIns="0" bIns="0" rtlCol="0" anchor="t"/>
          <a:lstStyle/>
          <a:p>
            <a:pPr indent="0" marL="0">
              <a:buNone/>
            </a:pPr>
            <a:r>
              <a:rPr lang="en-US" sz="1400" dirty="0">
                <a:solidFill>
                  <a:schemeClr val="tx2"/>
                </a:solidFill>
              </a:rPr>
              <a:t>Form fields, labels, button and result area</a:t>
            </a:r>
            <a:endParaRPr lang="en-US" sz="1400" dirty="0"/>
          </a:p>
        </p:txBody>
      </p:sp>
      <p:sp>
        <p:nvSpPr>
          <p:cNvPr id="9" name="Tech card 2"/>
          <p:cNvSpPr/>
          <p:nvPr/>
        </p:nvSpPr>
        <p:spPr>
          <a:xfrm>
            <a:off x="2624328" y="1371600"/>
            <a:ext cx="1828800" cy="2240280"/>
          </a:xfrm>
          <a:prstGeom prst="roundRect">
            <a:avLst>
              <a:gd name="adj" fmla="val 4000"/>
            </a:avLst>
          </a:prstGeom>
          <a:solidFill>
            <a:schemeClr val="bg2"/>
          </a:solidFill>
          <a:ln w="9525">
            <a:solidFill>
              <a:schemeClr val="accent6"/>
            </a:solidFill>
            <a:prstDash val="solid"/>
          </a:ln>
        </p:spPr>
      </p:sp>
      <p:sp>
        <p:nvSpPr>
          <p:cNvPr id="10" name="CSS3 icon circle"/>
          <p:cNvSpPr/>
          <p:nvPr/>
        </p:nvSpPr>
        <p:spPr>
          <a:xfrm>
            <a:off x="2807208" y="1554480"/>
            <a:ext cx="566928" cy="566928"/>
          </a:xfrm>
          <a:prstGeom prst="ellipse">
            <a:avLst/>
          </a:prstGeom>
          <a:solidFill>
            <a:schemeClr val="bg1"/>
          </a:solidFill>
          <a:ln w="9525">
            <a:solidFill>
              <a:schemeClr val="accent6"/>
            </a:solidFill>
            <a:prstDash val="solid"/>
          </a:ln>
        </p:spPr>
      </p:sp>
      <p:pic>
        <p:nvPicPr>
          <p:cNvPr id="11" name="CSS3 icon" descr="CSS3 icon">    </p:cNvPr>
          <p:cNvPicPr>
            <a:picLocks noChangeAspect="1"/>
          </p:cNvPicPr>
          <p:nvPr/>
        </p:nvPicPr>
        <p:blipFill>
          <a:blip r:embed="rId2"/>
          <a:stretch>
            <a:fillRect/>
          </a:stretch>
        </p:blipFill>
        <p:spPr>
          <a:xfrm>
            <a:off x="2965948" y="1713220"/>
            <a:ext cx="249448" cy="249448"/>
          </a:xfrm>
          <a:prstGeom prst="rect">
            <a:avLst/>
          </a:prstGeom>
        </p:spPr>
      </p:pic>
      <p:sp>
        <p:nvSpPr>
          <p:cNvPr id="12" name="Tech name 2"/>
          <p:cNvSpPr txBox="1"/>
          <p:nvPr/>
        </p:nvSpPr>
        <p:spPr>
          <a:xfrm>
            <a:off x="2807208" y="2286000"/>
            <a:ext cx="1463040" cy="3200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CSS3</a:t>
            </a:r>
            <a:endParaRPr lang="en-US" sz="1800" dirty="0"/>
          </a:p>
        </p:txBody>
      </p:sp>
      <p:sp>
        <p:nvSpPr>
          <p:cNvPr id="13" name="Tech desc 2"/>
          <p:cNvSpPr txBox="1"/>
          <p:nvPr/>
        </p:nvSpPr>
        <p:spPr>
          <a:xfrm>
            <a:off x="2807208" y="2651760"/>
            <a:ext cx="1508760" cy="914400"/>
          </a:xfrm>
          <a:prstGeom prst="rect">
            <a:avLst/>
          </a:prstGeom>
          <a:noFill/>
          <a:ln/>
        </p:spPr>
        <p:txBody>
          <a:bodyPr wrap="square" lIns="0" tIns="0" rIns="0" bIns="0" rtlCol="0" anchor="t"/>
          <a:lstStyle/>
          <a:p>
            <a:pPr indent="0" marL="0">
              <a:buNone/>
            </a:pPr>
            <a:r>
              <a:rPr lang="en-US" sz="1400" dirty="0">
                <a:solidFill>
                  <a:schemeClr val="tx2"/>
                </a:solidFill>
              </a:rPr>
              <a:t>Layout, form controls and validation messages</a:t>
            </a:r>
            <a:endParaRPr lang="en-US" sz="1400" dirty="0"/>
          </a:p>
        </p:txBody>
      </p:sp>
      <p:sp>
        <p:nvSpPr>
          <p:cNvPr id="14" name="Tech card 3"/>
          <p:cNvSpPr/>
          <p:nvPr/>
        </p:nvSpPr>
        <p:spPr>
          <a:xfrm>
            <a:off x="4700016" y="1371600"/>
            <a:ext cx="1828800" cy="2240280"/>
          </a:xfrm>
          <a:prstGeom prst="roundRect">
            <a:avLst>
              <a:gd name="adj" fmla="val 4000"/>
            </a:avLst>
          </a:prstGeom>
          <a:solidFill>
            <a:schemeClr val="bg2"/>
          </a:solidFill>
          <a:ln w="9525">
            <a:solidFill>
              <a:schemeClr val="accent6"/>
            </a:solidFill>
            <a:prstDash val="solid"/>
          </a:ln>
        </p:spPr>
      </p:sp>
      <p:sp>
        <p:nvSpPr>
          <p:cNvPr id="15" name="JavaScript icon circle"/>
          <p:cNvSpPr/>
          <p:nvPr/>
        </p:nvSpPr>
        <p:spPr>
          <a:xfrm>
            <a:off x="4882896" y="1554480"/>
            <a:ext cx="566928" cy="566928"/>
          </a:xfrm>
          <a:prstGeom prst="ellipse">
            <a:avLst/>
          </a:prstGeom>
          <a:solidFill>
            <a:schemeClr val="bg1"/>
          </a:solidFill>
          <a:ln w="9525">
            <a:solidFill>
              <a:schemeClr val="accent6"/>
            </a:solidFill>
            <a:prstDash val="solid"/>
          </a:ln>
        </p:spPr>
      </p:sp>
      <p:pic>
        <p:nvPicPr>
          <p:cNvPr id="16" name="JavaScript icon" descr="JavaScript icon">    </p:cNvPr>
          <p:cNvPicPr>
            <a:picLocks noChangeAspect="1"/>
          </p:cNvPicPr>
          <p:nvPr/>
        </p:nvPicPr>
        <p:blipFill>
          <a:blip r:embed="rId3"/>
          <a:stretch>
            <a:fillRect/>
          </a:stretch>
        </p:blipFill>
        <p:spPr>
          <a:xfrm>
            <a:off x="5041636" y="1713220"/>
            <a:ext cx="249448" cy="249448"/>
          </a:xfrm>
          <a:prstGeom prst="rect">
            <a:avLst/>
          </a:prstGeom>
        </p:spPr>
      </p:pic>
      <p:sp>
        <p:nvSpPr>
          <p:cNvPr id="17" name="Tech name 3"/>
          <p:cNvSpPr txBox="1"/>
          <p:nvPr/>
        </p:nvSpPr>
        <p:spPr>
          <a:xfrm>
            <a:off x="4882896" y="2286000"/>
            <a:ext cx="1463040" cy="3200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JavaScript</a:t>
            </a:r>
            <a:endParaRPr lang="en-US" sz="1800" dirty="0"/>
          </a:p>
        </p:txBody>
      </p:sp>
      <p:sp>
        <p:nvSpPr>
          <p:cNvPr id="18" name="Tech desc 3"/>
          <p:cNvSpPr txBox="1"/>
          <p:nvPr/>
        </p:nvSpPr>
        <p:spPr>
          <a:xfrm>
            <a:off x="4882896" y="2651760"/>
            <a:ext cx="1508760" cy="914400"/>
          </a:xfrm>
          <a:prstGeom prst="rect">
            <a:avLst/>
          </a:prstGeom>
          <a:noFill/>
          <a:ln/>
        </p:spPr>
        <p:txBody>
          <a:bodyPr wrap="square" lIns="0" tIns="0" rIns="0" bIns="0" rtlCol="0" anchor="t"/>
          <a:lstStyle/>
          <a:p>
            <a:pPr indent="0" marL="0">
              <a:buNone/>
            </a:pPr>
            <a:r>
              <a:rPr lang="en-US" sz="1400" dirty="0">
                <a:solidFill>
                  <a:schemeClr val="tx2"/>
                </a:solidFill>
              </a:rPr>
              <a:t>Reads values, handles submit, tests Regex</a:t>
            </a:r>
            <a:endParaRPr lang="en-US" sz="1400" dirty="0"/>
          </a:p>
        </p:txBody>
      </p:sp>
      <p:sp>
        <p:nvSpPr>
          <p:cNvPr id="19" name="Tech card 4"/>
          <p:cNvSpPr/>
          <p:nvPr/>
        </p:nvSpPr>
        <p:spPr>
          <a:xfrm>
            <a:off x="6775704" y="1371600"/>
            <a:ext cx="1828800" cy="2240280"/>
          </a:xfrm>
          <a:prstGeom prst="roundRect">
            <a:avLst>
              <a:gd name="adj" fmla="val 4000"/>
            </a:avLst>
          </a:prstGeom>
          <a:solidFill>
            <a:schemeClr val="bg2"/>
          </a:solidFill>
          <a:ln w="9525">
            <a:solidFill>
              <a:schemeClr val="accent6"/>
            </a:solidFill>
            <a:prstDash val="solid"/>
          </a:ln>
        </p:spPr>
      </p:sp>
      <p:sp>
        <p:nvSpPr>
          <p:cNvPr id="20" name="Regex icon circle"/>
          <p:cNvSpPr/>
          <p:nvPr/>
        </p:nvSpPr>
        <p:spPr>
          <a:xfrm>
            <a:off x="6958584" y="1554480"/>
            <a:ext cx="566928" cy="566928"/>
          </a:xfrm>
          <a:prstGeom prst="ellipse">
            <a:avLst/>
          </a:prstGeom>
          <a:solidFill>
            <a:schemeClr val="bg1"/>
          </a:solidFill>
          <a:ln w="9525">
            <a:solidFill>
              <a:schemeClr val="accent6"/>
            </a:solidFill>
            <a:prstDash val="solid"/>
          </a:ln>
        </p:spPr>
      </p:sp>
      <p:pic>
        <p:nvPicPr>
          <p:cNvPr id="21" name="Regex icon" descr="Regex icon">    </p:cNvPr>
          <p:cNvPicPr>
            <a:picLocks noChangeAspect="1"/>
          </p:cNvPicPr>
          <p:nvPr/>
        </p:nvPicPr>
        <p:blipFill>
          <a:blip r:embed="rId4"/>
          <a:stretch>
            <a:fillRect/>
          </a:stretch>
        </p:blipFill>
        <p:spPr>
          <a:xfrm>
            <a:off x="7117324" y="1713220"/>
            <a:ext cx="249448" cy="249448"/>
          </a:xfrm>
          <a:prstGeom prst="rect">
            <a:avLst/>
          </a:prstGeom>
        </p:spPr>
      </p:pic>
      <p:sp>
        <p:nvSpPr>
          <p:cNvPr id="22" name="Tech name 4"/>
          <p:cNvSpPr txBox="1"/>
          <p:nvPr/>
        </p:nvSpPr>
        <p:spPr>
          <a:xfrm>
            <a:off x="6958584" y="2286000"/>
            <a:ext cx="1463040" cy="3200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Regex</a:t>
            </a:r>
            <a:endParaRPr lang="en-US" sz="1800" dirty="0"/>
          </a:p>
        </p:txBody>
      </p:sp>
      <p:sp>
        <p:nvSpPr>
          <p:cNvPr id="23" name="Tech desc 4"/>
          <p:cNvSpPr txBox="1"/>
          <p:nvPr/>
        </p:nvSpPr>
        <p:spPr>
          <a:xfrm>
            <a:off x="6958584" y="2651760"/>
            <a:ext cx="1508760" cy="914400"/>
          </a:xfrm>
          <a:prstGeom prst="rect">
            <a:avLst/>
          </a:prstGeom>
          <a:noFill/>
          <a:ln/>
        </p:spPr>
        <p:txBody>
          <a:bodyPr wrap="square" lIns="0" tIns="0" rIns="0" bIns="0" rtlCol="0" anchor="t"/>
          <a:lstStyle/>
          <a:p>
            <a:pPr indent="0" marL="0">
              <a:buNone/>
            </a:pPr>
            <a:r>
              <a:rPr lang="en-US" sz="1400" dirty="0">
                <a:solidFill>
                  <a:schemeClr val="tx2"/>
                </a:solidFill>
              </a:rPr>
              <a:t>Defines the accepted pattern for each field</a:t>
            </a:r>
            <a:endParaRPr lang="en-US" sz="1400" dirty="0"/>
          </a:p>
        </p:txBody>
      </p:sp>
      <p:sp>
        <p:nvSpPr>
          <p:cNvPr id="24" name="Environment strip"/>
          <p:cNvSpPr/>
          <p:nvPr/>
        </p:nvSpPr>
        <p:spPr>
          <a:xfrm>
            <a:off x="548640" y="3886200"/>
            <a:ext cx="8046720" cy="594360"/>
          </a:xfrm>
          <a:prstGeom prst="roundRect">
            <a:avLst>
              <a:gd name="adj" fmla="val 12308"/>
            </a:avLst>
          </a:prstGeom>
          <a:solidFill>
            <a:schemeClr val="bg2"/>
          </a:solidFill>
          <a:ln w="9525">
            <a:solidFill>
              <a:schemeClr val="accent6"/>
            </a:solidFill>
            <a:prstDash val="solid"/>
          </a:ln>
        </p:spPr>
      </p:sp>
      <p:sp>
        <p:nvSpPr>
          <p:cNvPr id="25" name="Environment text"/>
          <p:cNvSpPr txBox="1"/>
          <p:nvPr/>
        </p:nvSpPr>
        <p:spPr>
          <a:xfrm>
            <a:off x="777240" y="3886200"/>
            <a:ext cx="7589520" cy="594360"/>
          </a:xfrm>
          <a:prstGeom prst="rect">
            <a:avLst/>
          </a:prstGeom>
          <a:noFill/>
          <a:ln/>
        </p:spPr>
        <p:txBody>
          <a:bodyPr wrap="square" lIns="0" tIns="0" rIns="0" bIns="0" rtlCol="0" anchor="ctr"/>
          <a:lstStyle/>
          <a:p>
            <a:pPr indent="0" marL="0">
              <a:buNone/>
            </a:pPr>
            <a:r>
              <a:rPr lang="en-US" sz="1400" dirty="0">
                <a:solidFill>
                  <a:schemeClr val="tx1"/>
                </a:solidFill>
              </a:rPr>
              <a:t>Runs in any modern browser, with nothing more than a text editor like VS Code.</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05 // FLOW</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How It Works</a:t>
            </a:r>
            <a:endParaRPr lang="en-US" sz="3000" dirty="0"/>
          </a:p>
        </p:txBody>
      </p:sp>
      <p:sp>
        <p:nvSpPr>
          <p:cNvPr id="4" name="Step card 1"/>
          <p:cNvSpPr/>
          <p:nvPr/>
        </p:nvSpPr>
        <p:spPr>
          <a:xfrm>
            <a:off x="548640" y="1371600"/>
            <a:ext cx="2560320" cy="1417320"/>
          </a:xfrm>
          <a:prstGeom prst="roundRect">
            <a:avLst>
              <a:gd name="adj" fmla="val 5161"/>
            </a:avLst>
          </a:prstGeom>
          <a:solidFill>
            <a:schemeClr val="bg2"/>
          </a:solidFill>
          <a:ln w="9525">
            <a:solidFill>
              <a:schemeClr val="accent6"/>
            </a:solidFill>
            <a:prstDash val="solid"/>
          </a:ln>
        </p:spPr>
      </p:sp>
      <p:sp>
        <p:nvSpPr>
          <p:cNvPr id="5" name="Step number 1"/>
          <p:cNvSpPr txBox="1"/>
          <p:nvPr/>
        </p:nvSpPr>
        <p:spPr>
          <a:xfrm>
            <a:off x="731520" y="1481328"/>
            <a:ext cx="914400" cy="3657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01</a:t>
            </a:r>
            <a:endParaRPr lang="en-US" sz="2200" dirty="0"/>
          </a:p>
        </p:txBody>
      </p:sp>
      <p:sp>
        <p:nvSpPr>
          <p:cNvPr id="6" name="Step heading 1"/>
          <p:cNvSpPr txBox="1"/>
          <p:nvPr/>
        </p:nvSpPr>
        <p:spPr>
          <a:xfrm>
            <a:off x="731520" y="1847088"/>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Open</a:t>
            </a:r>
            <a:endParaRPr lang="en-US" sz="1600" dirty="0"/>
          </a:p>
        </p:txBody>
      </p:sp>
      <p:sp>
        <p:nvSpPr>
          <p:cNvPr id="7" name="Step text 1"/>
          <p:cNvSpPr txBox="1"/>
          <p:nvPr/>
        </p:nvSpPr>
        <p:spPr>
          <a:xfrm>
            <a:off x="731520" y="2176272"/>
            <a:ext cx="2194560" cy="502920"/>
          </a:xfrm>
          <a:prstGeom prst="rect">
            <a:avLst/>
          </a:prstGeom>
          <a:noFill/>
          <a:ln/>
        </p:spPr>
        <p:txBody>
          <a:bodyPr wrap="square" lIns="0" tIns="0" rIns="0" bIns="0" rtlCol="0" anchor="t"/>
          <a:lstStyle/>
          <a:p>
            <a:pPr indent="0" marL="0">
              <a:buNone/>
            </a:pPr>
            <a:r>
              <a:rPr lang="en-US" sz="1400" dirty="0">
                <a:solidFill>
                  <a:schemeClr val="tx2"/>
                </a:solidFill>
              </a:rPr>
              <a:t>User opens the HTML file in a browser</a:t>
            </a:r>
            <a:endParaRPr lang="en-US" sz="1400" dirty="0"/>
          </a:p>
        </p:txBody>
      </p:sp>
      <p:sp>
        <p:nvSpPr>
          <p:cNvPr id="8" name="Step card 2"/>
          <p:cNvSpPr/>
          <p:nvPr/>
        </p:nvSpPr>
        <p:spPr>
          <a:xfrm>
            <a:off x="3291840" y="1371600"/>
            <a:ext cx="2560320" cy="1417320"/>
          </a:xfrm>
          <a:prstGeom prst="roundRect">
            <a:avLst>
              <a:gd name="adj" fmla="val 5161"/>
            </a:avLst>
          </a:prstGeom>
          <a:solidFill>
            <a:schemeClr val="bg2"/>
          </a:solidFill>
          <a:ln w="9525">
            <a:solidFill>
              <a:schemeClr val="accent6"/>
            </a:solidFill>
            <a:prstDash val="solid"/>
          </a:ln>
        </p:spPr>
      </p:sp>
      <p:sp>
        <p:nvSpPr>
          <p:cNvPr id="9" name="Step number 2"/>
          <p:cNvSpPr txBox="1"/>
          <p:nvPr/>
        </p:nvSpPr>
        <p:spPr>
          <a:xfrm>
            <a:off x="3474720" y="1481328"/>
            <a:ext cx="914400" cy="3657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02</a:t>
            </a:r>
            <a:endParaRPr lang="en-US" sz="2200" dirty="0"/>
          </a:p>
        </p:txBody>
      </p:sp>
      <p:sp>
        <p:nvSpPr>
          <p:cNvPr id="10" name="Step heading 2"/>
          <p:cNvSpPr txBox="1"/>
          <p:nvPr/>
        </p:nvSpPr>
        <p:spPr>
          <a:xfrm>
            <a:off x="3474720" y="1847088"/>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Enter</a:t>
            </a:r>
            <a:endParaRPr lang="en-US" sz="1600" dirty="0"/>
          </a:p>
        </p:txBody>
      </p:sp>
      <p:sp>
        <p:nvSpPr>
          <p:cNvPr id="11" name="Step text 2"/>
          <p:cNvSpPr txBox="1"/>
          <p:nvPr/>
        </p:nvSpPr>
        <p:spPr>
          <a:xfrm>
            <a:off x="3474720" y="2176272"/>
            <a:ext cx="2194560" cy="502920"/>
          </a:xfrm>
          <a:prstGeom prst="rect">
            <a:avLst/>
          </a:prstGeom>
          <a:noFill/>
          <a:ln/>
        </p:spPr>
        <p:txBody>
          <a:bodyPr wrap="square" lIns="0" tIns="0" rIns="0" bIns="0" rtlCol="0" anchor="t"/>
          <a:lstStyle/>
          <a:p>
            <a:pPr indent="0" marL="0">
              <a:buNone/>
            </a:pPr>
            <a:r>
              <a:rPr lang="en-US" sz="1400" dirty="0">
                <a:solidFill>
                  <a:schemeClr val="tx2"/>
                </a:solidFill>
              </a:rPr>
              <a:t>Types a mobile, PAN and Aadhaar number</a:t>
            </a:r>
            <a:endParaRPr lang="en-US" sz="1400" dirty="0"/>
          </a:p>
        </p:txBody>
      </p:sp>
      <p:sp>
        <p:nvSpPr>
          <p:cNvPr id="12" name="Step card 3"/>
          <p:cNvSpPr/>
          <p:nvPr/>
        </p:nvSpPr>
        <p:spPr>
          <a:xfrm>
            <a:off x="6035040" y="1371600"/>
            <a:ext cx="2560320" cy="1417320"/>
          </a:xfrm>
          <a:prstGeom prst="roundRect">
            <a:avLst>
              <a:gd name="adj" fmla="val 5161"/>
            </a:avLst>
          </a:prstGeom>
          <a:solidFill>
            <a:schemeClr val="bg2"/>
          </a:solidFill>
          <a:ln w="9525">
            <a:solidFill>
              <a:schemeClr val="accent6"/>
            </a:solidFill>
            <a:prstDash val="solid"/>
          </a:ln>
        </p:spPr>
      </p:sp>
      <p:sp>
        <p:nvSpPr>
          <p:cNvPr id="13" name="Step number 3"/>
          <p:cNvSpPr txBox="1"/>
          <p:nvPr/>
        </p:nvSpPr>
        <p:spPr>
          <a:xfrm>
            <a:off x="6217920" y="1481328"/>
            <a:ext cx="914400" cy="3657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03</a:t>
            </a:r>
            <a:endParaRPr lang="en-US" sz="2200" dirty="0"/>
          </a:p>
        </p:txBody>
      </p:sp>
      <p:sp>
        <p:nvSpPr>
          <p:cNvPr id="14" name="Step heading 3"/>
          <p:cNvSpPr txBox="1"/>
          <p:nvPr/>
        </p:nvSpPr>
        <p:spPr>
          <a:xfrm>
            <a:off x="6217920" y="1847088"/>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Submit</a:t>
            </a:r>
            <a:endParaRPr lang="en-US" sz="1600" dirty="0"/>
          </a:p>
        </p:txBody>
      </p:sp>
      <p:sp>
        <p:nvSpPr>
          <p:cNvPr id="15" name="Step text 3"/>
          <p:cNvSpPr txBox="1"/>
          <p:nvPr/>
        </p:nvSpPr>
        <p:spPr>
          <a:xfrm>
            <a:off x="6217920" y="2176272"/>
            <a:ext cx="2194560" cy="502920"/>
          </a:xfrm>
          <a:prstGeom prst="rect">
            <a:avLst/>
          </a:prstGeom>
          <a:noFill/>
          <a:ln/>
        </p:spPr>
        <p:txBody>
          <a:bodyPr wrap="square" lIns="0" tIns="0" rIns="0" bIns="0" rtlCol="0" anchor="t"/>
          <a:lstStyle/>
          <a:p>
            <a:pPr indent="0" marL="0">
              <a:buNone/>
            </a:pPr>
            <a:r>
              <a:rPr lang="en-US" sz="1400" dirty="0">
                <a:solidFill>
                  <a:schemeClr val="tx2"/>
                </a:solidFill>
              </a:rPr>
              <a:t>JavaScript stops the page from reloading</a:t>
            </a:r>
            <a:endParaRPr lang="en-US" sz="1400" dirty="0"/>
          </a:p>
        </p:txBody>
      </p:sp>
      <p:sp>
        <p:nvSpPr>
          <p:cNvPr id="16" name="Step card 4"/>
          <p:cNvSpPr/>
          <p:nvPr/>
        </p:nvSpPr>
        <p:spPr>
          <a:xfrm>
            <a:off x="548640" y="2971800"/>
            <a:ext cx="2560320" cy="1417320"/>
          </a:xfrm>
          <a:prstGeom prst="roundRect">
            <a:avLst>
              <a:gd name="adj" fmla="val 5161"/>
            </a:avLst>
          </a:prstGeom>
          <a:solidFill>
            <a:schemeClr val="bg2"/>
          </a:solidFill>
          <a:ln w="9525">
            <a:solidFill>
              <a:schemeClr val="accent6"/>
            </a:solidFill>
            <a:prstDash val="solid"/>
          </a:ln>
        </p:spPr>
      </p:sp>
      <p:sp>
        <p:nvSpPr>
          <p:cNvPr id="17" name="Step number 4"/>
          <p:cNvSpPr txBox="1"/>
          <p:nvPr/>
        </p:nvSpPr>
        <p:spPr>
          <a:xfrm>
            <a:off x="731520" y="3081528"/>
            <a:ext cx="914400" cy="3657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04</a:t>
            </a:r>
            <a:endParaRPr lang="en-US" sz="2200" dirty="0"/>
          </a:p>
        </p:txBody>
      </p:sp>
      <p:sp>
        <p:nvSpPr>
          <p:cNvPr id="18" name="Step heading 4"/>
          <p:cNvSpPr txBox="1"/>
          <p:nvPr/>
        </p:nvSpPr>
        <p:spPr>
          <a:xfrm>
            <a:off x="731520" y="3447288"/>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Clean</a:t>
            </a:r>
            <a:endParaRPr lang="en-US" sz="1600" dirty="0"/>
          </a:p>
        </p:txBody>
      </p:sp>
      <p:sp>
        <p:nvSpPr>
          <p:cNvPr id="19" name="Step text 4"/>
          <p:cNvSpPr txBox="1"/>
          <p:nvPr/>
        </p:nvSpPr>
        <p:spPr>
          <a:xfrm>
            <a:off x="731520" y="3776472"/>
            <a:ext cx="2194560" cy="502920"/>
          </a:xfrm>
          <a:prstGeom prst="rect">
            <a:avLst/>
          </a:prstGeom>
          <a:noFill/>
          <a:ln/>
        </p:spPr>
        <p:txBody>
          <a:bodyPr wrap="square" lIns="0" tIns="0" rIns="0" bIns="0" rtlCol="0" anchor="t"/>
          <a:lstStyle/>
          <a:p>
            <a:pPr indent="0" marL="0">
              <a:buNone/>
            </a:pPr>
            <a:r>
              <a:rPr lang="en-US" sz="1400" dirty="0">
                <a:solidFill>
                  <a:schemeClr val="tx2"/>
                </a:solidFill>
              </a:rPr>
              <a:t>Values are trimmed; PAN is made uppercase</a:t>
            </a:r>
            <a:endParaRPr lang="en-US" sz="1400" dirty="0"/>
          </a:p>
        </p:txBody>
      </p:sp>
      <p:sp>
        <p:nvSpPr>
          <p:cNvPr id="20" name="Step card 5"/>
          <p:cNvSpPr/>
          <p:nvPr/>
        </p:nvSpPr>
        <p:spPr>
          <a:xfrm>
            <a:off x="3291840" y="2971800"/>
            <a:ext cx="2560320" cy="1417320"/>
          </a:xfrm>
          <a:prstGeom prst="roundRect">
            <a:avLst>
              <a:gd name="adj" fmla="val 5161"/>
            </a:avLst>
          </a:prstGeom>
          <a:solidFill>
            <a:schemeClr val="bg2"/>
          </a:solidFill>
          <a:ln w="9525">
            <a:solidFill>
              <a:schemeClr val="accent6"/>
            </a:solidFill>
            <a:prstDash val="solid"/>
          </a:ln>
        </p:spPr>
      </p:sp>
      <p:sp>
        <p:nvSpPr>
          <p:cNvPr id="21" name="Step number 5"/>
          <p:cNvSpPr txBox="1"/>
          <p:nvPr/>
        </p:nvSpPr>
        <p:spPr>
          <a:xfrm>
            <a:off x="3474720" y="3081528"/>
            <a:ext cx="914400" cy="3657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05</a:t>
            </a:r>
            <a:endParaRPr lang="en-US" sz="2200" dirty="0"/>
          </a:p>
        </p:txBody>
      </p:sp>
      <p:sp>
        <p:nvSpPr>
          <p:cNvPr id="22" name="Step heading 5"/>
          <p:cNvSpPr txBox="1"/>
          <p:nvPr/>
        </p:nvSpPr>
        <p:spPr>
          <a:xfrm>
            <a:off x="3474720" y="3447288"/>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Test</a:t>
            </a:r>
            <a:endParaRPr lang="en-US" sz="1600" dirty="0"/>
          </a:p>
        </p:txBody>
      </p:sp>
      <p:sp>
        <p:nvSpPr>
          <p:cNvPr id="23" name="Step text 5"/>
          <p:cNvSpPr txBox="1"/>
          <p:nvPr/>
        </p:nvSpPr>
        <p:spPr>
          <a:xfrm>
            <a:off x="3474720" y="3776472"/>
            <a:ext cx="2194560" cy="502920"/>
          </a:xfrm>
          <a:prstGeom prst="rect">
            <a:avLst/>
          </a:prstGeom>
          <a:noFill/>
          <a:ln/>
        </p:spPr>
        <p:txBody>
          <a:bodyPr wrap="square" lIns="0" tIns="0" rIns="0" bIns="0" rtlCol="0" anchor="t"/>
          <a:lstStyle/>
          <a:p>
            <a:pPr indent="0" marL="0">
              <a:buNone/>
            </a:pPr>
            <a:r>
              <a:rPr lang="en-US" sz="1400" dirty="0">
                <a:solidFill>
                  <a:schemeClr val="tx2"/>
                </a:solidFill>
              </a:rPr>
              <a:t>Each value is checked against its Regex</a:t>
            </a:r>
            <a:endParaRPr lang="en-US" sz="1400" dirty="0"/>
          </a:p>
        </p:txBody>
      </p:sp>
      <p:sp>
        <p:nvSpPr>
          <p:cNvPr id="24" name="Step card 6"/>
          <p:cNvSpPr/>
          <p:nvPr/>
        </p:nvSpPr>
        <p:spPr>
          <a:xfrm>
            <a:off x="6035040" y="2971800"/>
            <a:ext cx="2560320" cy="1417320"/>
          </a:xfrm>
          <a:prstGeom prst="roundRect">
            <a:avLst>
              <a:gd name="adj" fmla="val 5161"/>
            </a:avLst>
          </a:prstGeom>
          <a:solidFill>
            <a:schemeClr val="bg2"/>
          </a:solidFill>
          <a:ln w="9525">
            <a:solidFill>
              <a:schemeClr val="accent6"/>
            </a:solidFill>
            <a:prstDash val="solid"/>
          </a:ln>
        </p:spPr>
      </p:sp>
      <p:sp>
        <p:nvSpPr>
          <p:cNvPr id="25" name="Step number 6"/>
          <p:cNvSpPr txBox="1"/>
          <p:nvPr/>
        </p:nvSpPr>
        <p:spPr>
          <a:xfrm>
            <a:off x="6217920" y="3081528"/>
            <a:ext cx="914400" cy="3657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06</a:t>
            </a:r>
            <a:endParaRPr lang="en-US" sz="2200" dirty="0"/>
          </a:p>
        </p:txBody>
      </p:sp>
      <p:sp>
        <p:nvSpPr>
          <p:cNvPr id="26" name="Step heading 6"/>
          <p:cNvSpPr txBox="1"/>
          <p:nvPr/>
        </p:nvSpPr>
        <p:spPr>
          <a:xfrm>
            <a:off x="6217920" y="3447288"/>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Result</a:t>
            </a:r>
            <a:endParaRPr lang="en-US" sz="1600" dirty="0"/>
          </a:p>
        </p:txBody>
      </p:sp>
      <p:sp>
        <p:nvSpPr>
          <p:cNvPr id="27" name="Step text 6"/>
          <p:cNvSpPr txBox="1"/>
          <p:nvPr/>
        </p:nvSpPr>
        <p:spPr>
          <a:xfrm>
            <a:off x="6217920" y="3776472"/>
            <a:ext cx="2194560" cy="502920"/>
          </a:xfrm>
          <a:prstGeom prst="rect">
            <a:avLst/>
          </a:prstGeom>
          <a:noFill/>
          <a:ln/>
        </p:spPr>
        <p:txBody>
          <a:bodyPr wrap="square" lIns="0" tIns="0" rIns="0" bIns="0" rtlCol="0" anchor="t"/>
          <a:lstStyle/>
          <a:p>
            <a:pPr indent="0" marL="0">
              <a:buNone/>
            </a:pPr>
            <a:r>
              <a:rPr lang="en-US" sz="1400" dirty="0">
                <a:solidFill>
                  <a:schemeClr val="tx2"/>
                </a:solidFill>
              </a:rPr>
              <a:t>Errors listed, or a green success message</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06 // REGEX</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Regular Expressions Used</a:t>
            </a:r>
            <a:endParaRPr lang="en-US" sz="3000" dirty="0"/>
          </a:p>
        </p:txBody>
      </p:sp>
      <p:graphicFrame>
        <p:nvGraphicFramePr>
          <p:cNvPr id="8" name="Regex table"/>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828800"/>
                <a:gridCol w="3108960"/>
                <a:gridCol w="3108960"/>
              </a:tblGrid>
              <a:tr h="411480">
                <a:tc>
                  <a:txBody>
                    <a:bodyPr/>
                    <a:lstStyle/>
                    <a:p>
                      <a:pPr indent="0" marL="0">
                        <a:buNone/>
                      </a:pPr>
                      <a:r>
                        <a:rPr lang="en-US" sz="1400" b="1" dirty="0">
                          <a:solidFill>
                            <a:schemeClr val="tx2"/>
                          </a:solidFill>
                        </a:rPr>
                        <a:t>Field</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Pattern</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Meaning</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1"/>
                          </a:solidFill>
                        </a:rPr>
                        <a:t>Mobile number</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accent1"/>
                          </a:solidFill>
                          <a:latin typeface="+mj-lt" pitchFamily="34" charset="0"/>
                          <a:ea typeface="+mj-lt" pitchFamily="34" charset="-122"/>
                          <a:cs typeface="+mj-lt" pitchFamily="34" charset="-120"/>
                        </a:rPr>
                        <a:t>/^[6-9]\d{9}$/</a:t>
                      </a:r>
                      <a:endParaRPr lang="en-US" sz="1500" dirty="0">
                        <a:latin typeface="+mj-lt" charset="0"/>
                        <a:ea typeface="+mj-lt" charset="0"/>
                        <a:cs typeface="+mj-lt" charset="0"/>
                      </a:endParaRPr>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Starts with 6–9 and has 10 digits in total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731520">
                <a:tc>
                  <a:txBody>
                    <a:bodyPr/>
                    <a:lstStyle/>
                    <a:p>
                      <a:pPr indent="0" marL="0">
                        <a:buNone/>
                      </a:pPr>
                      <a:r>
                        <a:rPr lang="en-US" sz="1400" b="1" dirty="0">
                          <a:solidFill>
                            <a:schemeClr val="tx1"/>
                          </a:solidFill>
                        </a:rPr>
                        <a:t>PAN number</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accent1"/>
                          </a:solidFill>
                          <a:latin typeface="+mj-lt" pitchFamily="34" charset="0"/>
                          <a:ea typeface="+mj-lt" pitchFamily="34" charset="-122"/>
                          <a:cs typeface="+mj-lt" pitchFamily="34" charset="-120"/>
                        </a:rPr>
                        <a:t>/^[A-Z]{5}[0-9]{4}[A-Z]$/</a:t>
                      </a:r>
                      <a:endParaRPr lang="en-US" sz="1500" dirty="0">
                        <a:latin typeface="+mj-lt" charset="0"/>
                        <a:ea typeface="+mj-lt" charset="0"/>
                        <a:cs typeface="+mj-lt" charset="0"/>
                      </a:endParaRPr>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Five letters, four digits, one letter</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731520">
                <a:tc>
                  <a:txBody>
                    <a:bodyPr/>
                    <a:lstStyle/>
                    <a:p>
                      <a:pPr indent="0" marL="0">
                        <a:buNone/>
                      </a:pPr>
                      <a:r>
                        <a:rPr lang="en-US" sz="1400" b="1" dirty="0">
                          <a:solidFill>
                            <a:schemeClr val="tx1"/>
                          </a:solidFill>
                        </a:rPr>
                        <a:t>Aadhaar number</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accent1"/>
                          </a:solidFill>
                          <a:latin typeface="+mj-lt" pitchFamily="34" charset="0"/>
                          <a:ea typeface="+mj-lt" pitchFamily="34" charset="-122"/>
                          <a:cs typeface="+mj-lt" pitchFamily="34" charset="-120"/>
                        </a:rPr>
                        <a:t>/^[2-9]\d{11}$/</a:t>
                      </a:r>
                      <a:endParaRPr lang="en-US" sz="1500" dirty="0">
                        <a:latin typeface="+mj-lt" charset="0"/>
                        <a:ea typeface="+mj-lt" charset="0"/>
                        <a:cs typeface="+mj-lt" charset="0"/>
                      </a:endParaRPr>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Twelve digits; first digit is 2–9</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bl>
          </a:graphicData>
        </a:graphic>
      </p:graphicFrame>
      <p:sp>
        <p:nvSpPr>
          <p:cNvPr id="5" name="Anchor note"/>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i="1" dirty="0">
                <a:solidFill>
                  <a:schemeClr val="tx2"/>
                </a:solidFill>
              </a:rPr>
              <a:t>^ and $ anchor each pattern, so the whole input has to match, not just a part of it.</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07 // BREAKDOWN</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Anatomy of a PAN Pattern</a:t>
            </a:r>
            <a:endParaRPr lang="en-US" sz="3000" dirty="0"/>
          </a:p>
        </p:txBody>
      </p:sp>
      <p:sp>
        <p:nvSpPr>
          <p:cNvPr id="4" name="PAN char box 1"/>
          <p:cNvSpPr/>
          <p:nvPr/>
        </p:nvSpPr>
        <p:spPr>
          <a:xfrm>
            <a:off x="813816" y="1417320"/>
            <a:ext cx="685800" cy="868680"/>
          </a:xfrm>
          <a:prstGeom prst="roundRect">
            <a:avLst>
              <a:gd name="adj" fmla="val 10667"/>
            </a:avLst>
          </a:prstGeom>
          <a:solidFill>
            <a:schemeClr val="bg2"/>
          </a:solidFill>
          <a:ln w="15875">
            <a:solidFill>
              <a:schemeClr val="accent1"/>
            </a:solidFill>
            <a:prstDash val="solid"/>
          </a:ln>
        </p:spPr>
      </p:sp>
      <p:sp>
        <p:nvSpPr>
          <p:cNvPr id="5" name="PAN char 1"/>
          <p:cNvSpPr txBox="1"/>
          <p:nvPr/>
        </p:nvSpPr>
        <p:spPr>
          <a:xfrm>
            <a:off x="813816"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A</a:t>
            </a:r>
            <a:endParaRPr lang="en-US" sz="3000" dirty="0"/>
          </a:p>
        </p:txBody>
      </p:sp>
      <p:sp>
        <p:nvSpPr>
          <p:cNvPr id="6" name="PAN char box 2"/>
          <p:cNvSpPr/>
          <p:nvPr/>
        </p:nvSpPr>
        <p:spPr>
          <a:xfrm>
            <a:off x="1572768" y="1417320"/>
            <a:ext cx="685800" cy="868680"/>
          </a:xfrm>
          <a:prstGeom prst="roundRect">
            <a:avLst>
              <a:gd name="adj" fmla="val 10667"/>
            </a:avLst>
          </a:prstGeom>
          <a:solidFill>
            <a:schemeClr val="bg2"/>
          </a:solidFill>
          <a:ln w="15875">
            <a:solidFill>
              <a:schemeClr val="accent1"/>
            </a:solidFill>
            <a:prstDash val="solid"/>
          </a:ln>
        </p:spPr>
      </p:sp>
      <p:sp>
        <p:nvSpPr>
          <p:cNvPr id="7" name="PAN char 2"/>
          <p:cNvSpPr txBox="1"/>
          <p:nvPr/>
        </p:nvSpPr>
        <p:spPr>
          <a:xfrm>
            <a:off x="1572768"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B</a:t>
            </a:r>
            <a:endParaRPr lang="en-US" sz="3000" dirty="0"/>
          </a:p>
        </p:txBody>
      </p:sp>
      <p:sp>
        <p:nvSpPr>
          <p:cNvPr id="8" name="PAN char box 3"/>
          <p:cNvSpPr/>
          <p:nvPr/>
        </p:nvSpPr>
        <p:spPr>
          <a:xfrm>
            <a:off x="2331720" y="1417320"/>
            <a:ext cx="685800" cy="868680"/>
          </a:xfrm>
          <a:prstGeom prst="roundRect">
            <a:avLst>
              <a:gd name="adj" fmla="val 10667"/>
            </a:avLst>
          </a:prstGeom>
          <a:solidFill>
            <a:schemeClr val="bg2"/>
          </a:solidFill>
          <a:ln w="15875">
            <a:solidFill>
              <a:schemeClr val="accent1"/>
            </a:solidFill>
            <a:prstDash val="solid"/>
          </a:ln>
        </p:spPr>
      </p:sp>
      <p:sp>
        <p:nvSpPr>
          <p:cNvPr id="9" name="PAN char 3"/>
          <p:cNvSpPr txBox="1"/>
          <p:nvPr/>
        </p:nvSpPr>
        <p:spPr>
          <a:xfrm>
            <a:off x="2331720"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C</a:t>
            </a:r>
            <a:endParaRPr lang="en-US" sz="3000" dirty="0"/>
          </a:p>
        </p:txBody>
      </p:sp>
      <p:sp>
        <p:nvSpPr>
          <p:cNvPr id="10" name="PAN char box 4"/>
          <p:cNvSpPr/>
          <p:nvPr/>
        </p:nvSpPr>
        <p:spPr>
          <a:xfrm>
            <a:off x="3090672" y="1417320"/>
            <a:ext cx="685800" cy="868680"/>
          </a:xfrm>
          <a:prstGeom prst="roundRect">
            <a:avLst>
              <a:gd name="adj" fmla="val 10667"/>
            </a:avLst>
          </a:prstGeom>
          <a:solidFill>
            <a:schemeClr val="bg2"/>
          </a:solidFill>
          <a:ln w="15875">
            <a:solidFill>
              <a:schemeClr val="accent1"/>
            </a:solidFill>
            <a:prstDash val="solid"/>
          </a:ln>
        </p:spPr>
      </p:sp>
      <p:sp>
        <p:nvSpPr>
          <p:cNvPr id="11" name="PAN char 4"/>
          <p:cNvSpPr txBox="1"/>
          <p:nvPr/>
        </p:nvSpPr>
        <p:spPr>
          <a:xfrm>
            <a:off x="3090672"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D</a:t>
            </a:r>
            <a:endParaRPr lang="en-US" sz="3000" dirty="0"/>
          </a:p>
        </p:txBody>
      </p:sp>
      <p:sp>
        <p:nvSpPr>
          <p:cNvPr id="12" name="PAN char box 5"/>
          <p:cNvSpPr/>
          <p:nvPr/>
        </p:nvSpPr>
        <p:spPr>
          <a:xfrm>
            <a:off x="3849624" y="1417320"/>
            <a:ext cx="685800" cy="868680"/>
          </a:xfrm>
          <a:prstGeom prst="roundRect">
            <a:avLst>
              <a:gd name="adj" fmla="val 10667"/>
            </a:avLst>
          </a:prstGeom>
          <a:solidFill>
            <a:schemeClr val="bg2"/>
          </a:solidFill>
          <a:ln w="15875">
            <a:solidFill>
              <a:schemeClr val="accent1"/>
            </a:solidFill>
            <a:prstDash val="solid"/>
          </a:ln>
        </p:spPr>
      </p:sp>
      <p:sp>
        <p:nvSpPr>
          <p:cNvPr id="13" name="PAN char 5"/>
          <p:cNvSpPr txBox="1"/>
          <p:nvPr/>
        </p:nvSpPr>
        <p:spPr>
          <a:xfrm>
            <a:off x="3849624"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E</a:t>
            </a:r>
            <a:endParaRPr lang="en-US" sz="3000" dirty="0"/>
          </a:p>
        </p:txBody>
      </p:sp>
      <p:sp>
        <p:nvSpPr>
          <p:cNvPr id="14" name="PAN char box 6"/>
          <p:cNvSpPr/>
          <p:nvPr/>
        </p:nvSpPr>
        <p:spPr>
          <a:xfrm>
            <a:off x="4608576" y="1417320"/>
            <a:ext cx="685800" cy="868680"/>
          </a:xfrm>
          <a:prstGeom prst="roundRect">
            <a:avLst>
              <a:gd name="adj" fmla="val 10667"/>
            </a:avLst>
          </a:prstGeom>
          <a:solidFill>
            <a:schemeClr val="bg2"/>
          </a:solidFill>
          <a:ln w="15875">
            <a:solidFill>
              <a:schemeClr val="accent2"/>
            </a:solidFill>
            <a:prstDash val="solid"/>
          </a:ln>
        </p:spPr>
      </p:sp>
      <p:sp>
        <p:nvSpPr>
          <p:cNvPr id="15" name="PAN char 6"/>
          <p:cNvSpPr txBox="1"/>
          <p:nvPr/>
        </p:nvSpPr>
        <p:spPr>
          <a:xfrm>
            <a:off x="4608576"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2"/>
                </a:solidFill>
                <a:latin typeface="+mj-lt" pitchFamily="34" charset="0"/>
                <a:ea typeface="+mj-lt" pitchFamily="34" charset="-122"/>
                <a:cs typeface="+mj-lt" pitchFamily="34" charset="-120"/>
              </a:rPr>
              <a:t>1</a:t>
            </a:r>
            <a:endParaRPr lang="en-US" sz="3000" dirty="0"/>
          </a:p>
        </p:txBody>
      </p:sp>
      <p:sp>
        <p:nvSpPr>
          <p:cNvPr id="16" name="PAN char box 7"/>
          <p:cNvSpPr/>
          <p:nvPr/>
        </p:nvSpPr>
        <p:spPr>
          <a:xfrm>
            <a:off x="5367528" y="1417320"/>
            <a:ext cx="685800" cy="868680"/>
          </a:xfrm>
          <a:prstGeom prst="roundRect">
            <a:avLst>
              <a:gd name="adj" fmla="val 10667"/>
            </a:avLst>
          </a:prstGeom>
          <a:solidFill>
            <a:schemeClr val="bg2"/>
          </a:solidFill>
          <a:ln w="15875">
            <a:solidFill>
              <a:schemeClr val="accent2"/>
            </a:solidFill>
            <a:prstDash val="solid"/>
          </a:ln>
        </p:spPr>
      </p:sp>
      <p:sp>
        <p:nvSpPr>
          <p:cNvPr id="17" name="PAN char 7"/>
          <p:cNvSpPr txBox="1"/>
          <p:nvPr/>
        </p:nvSpPr>
        <p:spPr>
          <a:xfrm>
            <a:off x="5367528"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2"/>
                </a:solidFill>
                <a:latin typeface="+mj-lt" pitchFamily="34" charset="0"/>
                <a:ea typeface="+mj-lt" pitchFamily="34" charset="-122"/>
                <a:cs typeface="+mj-lt" pitchFamily="34" charset="-120"/>
              </a:rPr>
              <a:t>2</a:t>
            </a:r>
            <a:endParaRPr lang="en-US" sz="3000" dirty="0"/>
          </a:p>
        </p:txBody>
      </p:sp>
      <p:sp>
        <p:nvSpPr>
          <p:cNvPr id="18" name="PAN char box 8"/>
          <p:cNvSpPr/>
          <p:nvPr/>
        </p:nvSpPr>
        <p:spPr>
          <a:xfrm>
            <a:off x="6126480" y="1417320"/>
            <a:ext cx="685800" cy="868680"/>
          </a:xfrm>
          <a:prstGeom prst="roundRect">
            <a:avLst>
              <a:gd name="adj" fmla="val 10667"/>
            </a:avLst>
          </a:prstGeom>
          <a:solidFill>
            <a:schemeClr val="bg2"/>
          </a:solidFill>
          <a:ln w="15875">
            <a:solidFill>
              <a:schemeClr val="accent2"/>
            </a:solidFill>
            <a:prstDash val="solid"/>
          </a:ln>
        </p:spPr>
      </p:sp>
      <p:sp>
        <p:nvSpPr>
          <p:cNvPr id="19" name="PAN char 8"/>
          <p:cNvSpPr txBox="1"/>
          <p:nvPr/>
        </p:nvSpPr>
        <p:spPr>
          <a:xfrm>
            <a:off x="6126480"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2"/>
                </a:solidFill>
                <a:latin typeface="+mj-lt" pitchFamily="34" charset="0"/>
                <a:ea typeface="+mj-lt" pitchFamily="34" charset="-122"/>
                <a:cs typeface="+mj-lt" pitchFamily="34" charset="-120"/>
              </a:rPr>
              <a:t>3</a:t>
            </a:r>
            <a:endParaRPr lang="en-US" sz="3000" dirty="0"/>
          </a:p>
        </p:txBody>
      </p:sp>
      <p:sp>
        <p:nvSpPr>
          <p:cNvPr id="20" name="PAN char box 9"/>
          <p:cNvSpPr/>
          <p:nvPr/>
        </p:nvSpPr>
        <p:spPr>
          <a:xfrm>
            <a:off x="6885432" y="1417320"/>
            <a:ext cx="685800" cy="868680"/>
          </a:xfrm>
          <a:prstGeom prst="roundRect">
            <a:avLst>
              <a:gd name="adj" fmla="val 10667"/>
            </a:avLst>
          </a:prstGeom>
          <a:solidFill>
            <a:schemeClr val="bg2"/>
          </a:solidFill>
          <a:ln w="15875">
            <a:solidFill>
              <a:schemeClr val="accent2"/>
            </a:solidFill>
            <a:prstDash val="solid"/>
          </a:ln>
        </p:spPr>
      </p:sp>
      <p:sp>
        <p:nvSpPr>
          <p:cNvPr id="21" name="PAN char 9"/>
          <p:cNvSpPr txBox="1"/>
          <p:nvPr/>
        </p:nvSpPr>
        <p:spPr>
          <a:xfrm>
            <a:off x="6885432"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2"/>
                </a:solidFill>
                <a:latin typeface="+mj-lt" pitchFamily="34" charset="0"/>
                <a:ea typeface="+mj-lt" pitchFamily="34" charset="-122"/>
                <a:cs typeface="+mj-lt" pitchFamily="34" charset="-120"/>
              </a:rPr>
              <a:t>4</a:t>
            </a:r>
            <a:endParaRPr lang="en-US" sz="3000" dirty="0"/>
          </a:p>
        </p:txBody>
      </p:sp>
      <p:sp>
        <p:nvSpPr>
          <p:cNvPr id="22" name="PAN char box 10"/>
          <p:cNvSpPr/>
          <p:nvPr/>
        </p:nvSpPr>
        <p:spPr>
          <a:xfrm>
            <a:off x="7644384" y="1417320"/>
            <a:ext cx="685800" cy="868680"/>
          </a:xfrm>
          <a:prstGeom prst="roundRect">
            <a:avLst>
              <a:gd name="adj" fmla="val 10667"/>
            </a:avLst>
          </a:prstGeom>
          <a:solidFill>
            <a:schemeClr val="bg2"/>
          </a:solidFill>
          <a:ln w="15875">
            <a:solidFill>
              <a:schemeClr val="accent1"/>
            </a:solidFill>
            <a:prstDash val="solid"/>
          </a:ln>
        </p:spPr>
      </p:sp>
      <p:sp>
        <p:nvSpPr>
          <p:cNvPr id="23" name="PAN char 10"/>
          <p:cNvSpPr txBox="1"/>
          <p:nvPr/>
        </p:nvSpPr>
        <p:spPr>
          <a:xfrm>
            <a:off x="7644384" y="1417320"/>
            <a:ext cx="685800"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F</a:t>
            </a:r>
            <a:endParaRPr lang="en-US" sz="3000" dirty="0"/>
          </a:p>
        </p:txBody>
      </p:sp>
      <p:sp>
        <p:nvSpPr>
          <p:cNvPr id="24" name="PAN group pattern 1"/>
          <p:cNvSpPr txBox="1"/>
          <p:nvPr/>
        </p:nvSpPr>
        <p:spPr>
          <a:xfrm>
            <a:off x="813816" y="2423160"/>
            <a:ext cx="3721608" cy="320040"/>
          </a:xfrm>
          <a:prstGeom prst="rect">
            <a:avLst/>
          </a:prstGeom>
          <a:noFill/>
          <a:ln/>
        </p:spPr>
        <p:txBody>
          <a:bodyPr wrap="square" lIns="0" tIns="0" rIns="0" bIns="0" rtlCol="0" anchor="ctr"/>
          <a:lstStyle/>
          <a:p>
            <a:pPr algn="ctr" indent="0" marL="0">
              <a:buNone/>
            </a:pPr>
            <a:r>
              <a:rPr lang="en-US" sz="1400" b="1" dirty="0">
                <a:solidFill>
                  <a:schemeClr val="accent1"/>
                </a:solidFill>
                <a:latin typeface="+mj-lt" pitchFamily="34" charset="0"/>
                <a:ea typeface="+mj-lt" pitchFamily="34" charset="-122"/>
                <a:cs typeface="+mj-lt" pitchFamily="34" charset="-120"/>
              </a:rPr>
              <a:t>[A-Z]{5}</a:t>
            </a:r>
            <a:endParaRPr lang="en-US" sz="1400" dirty="0"/>
          </a:p>
        </p:txBody>
      </p:sp>
      <p:sp>
        <p:nvSpPr>
          <p:cNvPr id="25" name="PAN group desc 1"/>
          <p:cNvSpPr txBox="1"/>
          <p:nvPr/>
        </p:nvSpPr>
        <p:spPr>
          <a:xfrm>
            <a:off x="813816" y="2743200"/>
            <a:ext cx="3721608" cy="274320"/>
          </a:xfrm>
          <a:prstGeom prst="rect">
            <a:avLst/>
          </a:prstGeom>
          <a:noFill/>
          <a:ln/>
        </p:spPr>
        <p:txBody>
          <a:bodyPr wrap="square" lIns="0" tIns="0" rIns="0" bIns="0" rtlCol="0" anchor="ctr"/>
          <a:lstStyle/>
          <a:p>
            <a:pPr algn="ctr" indent="0" marL="0">
              <a:buNone/>
            </a:pPr>
            <a:r>
              <a:rPr lang="en-US" sz="1400" dirty="0">
                <a:solidFill>
                  <a:schemeClr val="tx2"/>
                </a:solidFill>
              </a:rPr>
              <a:t>5 letters</a:t>
            </a:r>
            <a:endParaRPr lang="en-US" sz="1400" dirty="0"/>
          </a:p>
        </p:txBody>
      </p:sp>
      <p:sp>
        <p:nvSpPr>
          <p:cNvPr id="26" name="PAN group pattern 2"/>
          <p:cNvSpPr txBox="1"/>
          <p:nvPr/>
        </p:nvSpPr>
        <p:spPr>
          <a:xfrm>
            <a:off x="4608576" y="2423160"/>
            <a:ext cx="2962656" cy="320040"/>
          </a:xfrm>
          <a:prstGeom prst="rect">
            <a:avLst/>
          </a:prstGeom>
          <a:noFill/>
          <a:ln/>
        </p:spPr>
        <p:txBody>
          <a:bodyPr wrap="square" lIns="0" tIns="0" rIns="0" bIns="0" rtlCol="0" anchor="ctr"/>
          <a:lstStyle/>
          <a:p>
            <a:pPr algn="ctr" indent="0" marL="0">
              <a:buNone/>
            </a:pPr>
            <a:r>
              <a:rPr lang="en-US" sz="1400" b="1" dirty="0">
                <a:solidFill>
                  <a:schemeClr val="accent2"/>
                </a:solidFill>
                <a:latin typeface="+mj-lt" pitchFamily="34" charset="0"/>
                <a:ea typeface="+mj-lt" pitchFamily="34" charset="-122"/>
                <a:cs typeface="+mj-lt" pitchFamily="34" charset="-120"/>
              </a:rPr>
              <a:t>[0-9]{4}</a:t>
            </a:r>
            <a:endParaRPr lang="en-US" sz="1400" dirty="0"/>
          </a:p>
        </p:txBody>
      </p:sp>
      <p:sp>
        <p:nvSpPr>
          <p:cNvPr id="27" name="PAN group desc 2"/>
          <p:cNvSpPr txBox="1"/>
          <p:nvPr/>
        </p:nvSpPr>
        <p:spPr>
          <a:xfrm>
            <a:off x="4608576" y="2743200"/>
            <a:ext cx="2962656" cy="274320"/>
          </a:xfrm>
          <a:prstGeom prst="rect">
            <a:avLst/>
          </a:prstGeom>
          <a:noFill/>
          <a:ln/>
        </p:spPr>
        <p:txBody>
          <a:bodyPr wrap="square" lIns="0" tIns="0" rIns="0" bIns="0" rtlCol="0" anchor="ctr"/>
          <a:lstStyle/>
          <a:p>
            <a:pPr algn="ctr" indent="0" marL="0">
              <a:buNone/>
            </a:pPr>
            <a:r>
              <a:rPr lang="en-US" sz="1400" dirty="0">
                <a:solidFill>
                  <a:schemeClr val="tx2"/>
                </a:solidFill>
              </a:rPr>
              <a:t>4 digits</a:t>
            </a:r>
            <a:endParaRPr lang="en-US" sz="1400" dirty="0"/>
          </a:p>
        </p:txBody>
      </p:sp>
      <p:sp>
        <p:nvSpPr>
          <p:cNvPr id="28" name="PAN group pattern 3"/>
          <p:cNvSpPr txBox="1"/>
          <p:nvPr/>
        </p:nvSpPr>
        <p:spPr>
          <a:xfrm>
            <a:off x="7644384" y="2423160"/>
            <a:ext cx="685800" cy="320040"/>
          </a:xfrm>
          <a:prstGeom prst="rect">
            <a:avLst/>
          </a:prstGeom>
          <a:noFill/>
          <a:ln/>
        </p:spPr>
        <p:txBody>
          <a:bodyPr wrap="square" lIns="0" tIns="0" rIns="0" bIns="0" rtlCol="0" anchor="ctr"/>
          <a:lstStyle/>
          <a:p>
            <a:pPr algn="ctr" indent="0" marL="0">
              <a:buNone/>
            </a:pPr>
            <a:r>
              <a:rPr lang="en-US" sz="1400" b="1" dirty="0">
                <a:solidFill>
                  <a:schemeClr val="accent1"/>
                </a:solidFill>
                <a:latin typeface="+mj-lt" pitchFamily="34" charset="0"/>
                <a:ea typeface="+mj-lt" pitchFamily="34" charset="-122"/>
                <a:cs typeface="+mj-lt" pitchFamily="34" charset="-120"/>
              </a:rPr>
              <a:t>[A-Z]</a:t>
            </a:r>
            <a:endParaRPr lang="en-US" sz="1400" dirty="0"/>
          </a:p>
        </p:txBody>
      </p:sp>
      <p:sp>
        <p:nvSpPr>
          <p:cNvPr id="29" name="PAN group desc 3"/>
          <p:cNvSpPr txBox="1"/>
          <p:nvPr/>
        </p:nvSpPr>
        <p:spPr>
          <a:xfrm>
            <a:off x="7644384" y="2743200"/>
            <a:ext cx="685800" cy="274320"/>
          </a:xfrm>
          <a:prstGeom prst="rect">
            <a:avLst/>
          </a:prstGeom>
          <a:noFill/>
          <a:ln/>
        </p:spPr>
        <p:txBody>
          <a:bodyPr wrap="square" lIns="0" tIns="0" rIns="0" bIns="0" rtlCol="0" anchor="ctr"/>
          <a:lstStyle/>
          <a:p>
            <a:pPr algn="ctr" indent="0" marL="0">
              <a:buNone/>
            </a:pPr>
            <a:r>
              <a:rPr lang="en-US" sz="1400" dirty="0">
                <a:solidFill>
                  <a:schemeClr val="tx2"/>
                </a:solidFill>
              </a:rPr>
              <a:t>1 letter</a:t>
            </a:r>
            <a:endParaRPr lang="en-US" sz="1400" dirty="0"/>
          </a:p>
        </p:txBody>
      </p:sp>
      <p:sp>
        <p:nvSpPr>
          <p:cNvPr id="30" name="Full pattern card"/>
          <p:cNvSpPr/>
          <p:nvPr/>
        </p:nvSpPr>
        <p:spPr>
          <a:xfrm>
            <a:off x="548640" y="3474720"/>
            <a:ext cx="8046720" cy="1005840"/>
          </a:xfrm>
          <a:prstGeom prst="roundRect">
            <a:avLst>
              <a:gd name="adj" fmla="val 7273"/>
            </a:avLst>
          </a:prstGeom>
          <a:solidFill>
            <a:schemeClr val="bg2"/>
          </a:solidFill>
          <a:ln w="9525">
            <a:solidFill>
              <a:schemeClr val="accent6"/>
            </a:solidFill>
            <a:prstDash val="solid"/>
          </a:ln>
        </p:spPr>
      </p:sp>
      <p:sp>
        <p:nvSpPr>
          <p:cNvPr id="31" name="Full pattern"/>
          <p:cNvSpPr txBox="1"/>
          <p:nvPr/>
        </p:nvSpPr>
        <p:spPr>
          <a:xfrm>
            <a:off x="548640" y="3566160"/>
            <a:ext cx="804672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/^[A-Z]{5}[0-9]{4}[A-Z]$/</a:t>
            </a:r>
            <a:endParaRPr lang="en-US" sz="2200" dirty="0"/>
          </a:p>
        </p:txBody>
      </p:sp>
      <p:sp>
        <p:nvSpPr>
          <p:cNvPr id="32" name="Uppercase note"/>
          <p:cNvSpPr txBox="1"/>
          <p:nvPr/>
        </p:nvSpPr>
        <p:spPr>
          <a:xfrm>
            <a:off x="548640" y="4041648"/>
            <a:ext cx="8046720" cy="320040"/>
          </a:xfrm>
          <a:prstGeom prst="rect">
            <a:avLst/>
          </a:prstGeom>
          <a:noFill/>
          <a:ln/>
        </p:spPr>
        <p:txBody>
          <a:bodyPr wrap="square" lIns="0" tIns="0" rIns="0" bIns="0" rtlCol="0" anchor="ctr"/>
          <a:lstStyle/>
          <a:p>
            <a:pPr algn="ctr" indent="0" marL="0">
              <a:buNone/>
            </a:pPr>
            <a:r>
              <a:rPr lang="en-US" sz="1400" dirty="0">
                <a:solidFill>
                  <a:schemeClr val="tx2"/>
                </a:solidFill>
              </a:rPr>
              <a:t>The input is converted to uppercase first, so abcde1234f passes too.</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08 // CODE</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Core Validation Logic</a:t>
            </a:r>
            <a:endParaRPr lang="en-US" sz="3000" dirty="0"/>
          </a:p>
        </p:txBody>
      </p:sp>
      <p:sp>
        <p:nvSpPr>
          <p:cNvPr id="4" name="Window frame"/>
          <p:cNvSpPr/>
          <p:nvPr/>
        </p:nvSpPr>
        <p:spPr>
          <a:xfrm>
            <a:off x="548640" y="1371600"/>
            <a:ext cx="5303520" cy="3108960"/>
          </a:xfrm>
          <a:prstGeom prst="roundRect">
            <a:avLst>
              <a:gd name="adj" fmla="val 2941"/>
            </a:avLst>
          </a:prstGeom>
          <a:solidFill>
            <a:schemeClr val="bg2"/>
          </a:solidFill>
          <a:ln w="12700">
            <a:solidFill>
              <a:schemeClr val="accent6"/>
            </a:solidFill>
            <a:prstDash val="solid"/>
          </a:ln>
        </p:spPr>
      </p:sp>
      <p:sp>
        <p:nvSpPr>
          <p:cNvPr id="5" name="Window dot 1"/>
          <p:cNvSpPr/>
          <p:nvPr/>
        </p:nvSpPr>
        <p:spPr>
          <a:xfrm>
            <a:off x="731520" y="1517904"/>
            <a:ext cx="109728" cy="109728"/>
          </a:xfrm>
          <a:prstGeom prst="ellipse">
            <a:avLst/>
          </a:prstGeom>
          <a:solidFill>
            <a:schemeClr val="accent3"/>
          </a:solidFill>
          <a:ln w="12700">
            <a:solidFill>
              <a:schemeClr val="accent3"/>
            </a:solidFill>
            <a:prstDash val="solid"/>
          </a:ln>
        </p:spPr>
      </p:sp>
      <p:sp>
        <p:nvSpPr>
          <p:cNvPr id="6" name="Window dot 2"/>
          <p:cNvSpPr/>
          <p:nvPr/>
        </p:nvSpPr>
        <p:spPr>
          <a:xfrm>
            <a:off x="932688" y="1517904"/>
            <a:ext cx="109728" cy="109728"/>
          </a:xfrm>
          <a:prstGeom prst="ellipse">
            <a:avLst/>
          </a:prstGeom>
          <a:solidFill>
            <a:schemeClr val="accent1"/>
          </a:solidFill>
          <a:ln w="12700">
            <a:solidFill>
              <a:schemeClr val="accent1"/>
            </a:solidFill>
            <a:prstDash val="solid"/>
          </a:ln>
        </p:spPr>
      </p:sp>
      <p:sp>
        <p:nvSpPr>
          <p:cNvPr id="7" name="Window dot 3"/>
          <p:cNvSpPr/>
          <p:nvPr/>
        </p:nvSpPr>
        <p:spPr>
          <a:xfrm>
            <a:off x="1133856" y="1517904"/>
            <a:ext cx="109728" cy="109728"/>
          </a:xfrm>
          <a:prstGeom prst="ellipse">
            <a:avLst/>
          </a:prstGeom>
          <a:solidFill>
            <a:schemeClr val="accent2"/>
          </a:solidFill>
          <a:ln w="12700">
            <a:solidFill>
              <a:schemeClr val="accent2"/>
            </a:solidFill>
            <a:prstDash val="solid"/>
          </a:ln>
        </p:spPr>
      </p:sp>
      <p:sp>
        <p:nvSpPr>
          <p:cNvPr id="8" name="Code block"/>
          <p:cNvSpPr txBox="1"/>
          <p:nvPr/>
        </p:nvSpPr>
        <p:spPr>
          <a:xfrm>
            <a:off x="777240" y="1783080"/>
            <a:ext cx="4937760" cy="2560320"/>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latin typeface="+mj-lt" pitchFamily="34" charset="0"/>
                <a:ea typeface="+mj-lt" pitchFamily="34" charset="-122"/>
                <a:cs typeface="+mj-lt" pitchFamily="34" charset="-120"/>
              </a:rPr>
              <a:t>const </a:t>
            </a:r>
            <a:pPr indent="0" marL="0">
              <a:spcAft>
                <a:spcPts val="400"/>
              </a:spcAft>
              <a:buNone/>
            </a:pPr>
            <a:r>
              <a:rPr lang="en-US" sz="1200" dirty="0">
                <a:solidFill>
                  <a:schemeClr val="tx1"/>
                </a:solidFill>
                <a:latin typeface="+mj-lt" pitchFamily="34" charset="0"/>
                <a:ea typeface="+mj-lt" pitchFamily="34" charset="-122"/>
                <a:cs typeface="+mj-lt" pitchFamily="34" charset="-120"/>
              </a:rPr>
              <a:t>mobileRegex = </a:t>
            </a:r>
            <a:pPr indent="0" marL="0">
              <a:spcAft>
                <a:spcPts val="400"/>
              </a:spcAft>
              <a:buNone/>
            </a:pPr>
            <a:r>
              <a:rPr lang="en-US" sz="1200" dirty="0">
                <a:solidFill>
                  <a:schemeClr val="accent2"/>
                </a:solidFill>
                <a:latin typeface="+mj-lt" pitchFamily="34" charset="0"/>
                <a:ea typeface="+mj-lt" pitchFamily="34" charset="-122"/>
                <a:cs typeface="+mj-lt" pitchFamily="34" charset="-120"/>
              </a:rPr>
              <a:t>/^[6-9]\d{9}$/</a:t>
            </a:r>
            <a:pPr indent="0" marL="0">
              <a:spcAft>
                <a:spcPts val="400"/>
              </a:spcAft>
              <a:buNone/>
            </a:pPr>
            <a:r>
              <a:rPr lang="en-US" sz="1200" dirty="0">
                <a:solidFill>
                  <a:schemeClr val="tx1"/>
                </a:solidFill>
                <a:latin typeface="+mj-lt" pitchFamily="34" charset="0"/>
                <a:ea typeface="+mj-lt" pitchFamily="34" charset="-122"/>
                <a:cs typeface="+mj-lt" pitchFamily="34" charset="-120"/>
              </a:rPr>
              <a:t>;</a:t>
            </a:r>
            <a:endParaRPr lang="en-US" sz="1200" dirty="0"/>
          </a:p>
          <a:p>
            <a:pPr indent="0" marL="0">
              <a:spcAft>
                <a:spcPts val="400"/>
              </a:spcAft>
              <a:buNone/>
            </a:pPr>
            <a:r>
              <a:rPr lang="en-US" sz="1200" dirty="0">
                <a:solidFill>
                  <a:schemeClr val="accent5"/>
                </a:solidFill>
                <a:latin typeface="+mj-lt" pitchFamily="34" charset="0"/>
                <a:ea typeface="+mj-lt" pitchFamily="34" charset="-122"/>
                <a:cs typeface="+mj-lt" pitchFamily="34" charset="-120"/>
              </a:rPr>
              <a:t>const </a:t>
            </a:r>
            <a:pPr indent="0" marL="0">
              <a:spcAft>
                <a:spcPts val="400"/>
              </a:spcAft>
              <a:buNone/>
            </a:pPr>
            <a:r>
              <a:rPr lang="en-US" sz="1200" dirty="0">
                <a:solidFill>
                  <a:schemeClr val="tx1"/>
                </a:solidFill>
                <a:latin typeface="+mj-lt" pitchFamily="34" charset="0"/>
                <a:ea typeface="+mj-lt" pitchFamily="34" charset="-122"/>
                <a:cs typeface="+mj-lt" pitchFamily="34" charset="-120"/>
              </a:rPr>
              <a:t>panRegex = </a:t>
            </a:r>
            <a:pPr indent="0" marL="0">
              <a:spcAft>
                <a:spcPts val="400"/>
              </a:spcAft>
              <a:buNone/>
            </a:pPr>
            <a:r>
              <a:rPr lang="en-US" sz="1200" dirty="0">
                <a:solidFill>
                  <a:schemeClr val="accent2"/>
                </a:solidFill>
                <a:latin typeface="+mj-lt" pitchFamily="34" charset="0"/>
                <a:ea typeface="+mj-lt" pitchFamily="34" charset="-122"/>
                <a:cs typeface="+mj-lt" pitchFamily="34" charset="-120"/>
              </a:rPr>
              <a:t>/^[A-Z]{5}[0-9]{4}[A-Z]$/</a:t>
            </a:r>
            <a:pPr indent="0" marL="0">
              <a:spcAft>
                <a:spcPts val="400"/>
              </a:spcAft>
              <a:buNone/>
            </a:pPr>
            <a:r>
              <a:rPr lang="en-US" sz="1200" dirty="0">
                <a:solidFill>
                  <a:schemeClr val="tx1"/>
                </a:solidFill>
                <a:latin typeface="+mj-lt" pitchFamily="34" charset="0"/>
                <a:ea typeface="+mj-lt" pitchFamily="34" charset="-122"/>
                <a:cs typeface="+mj-lt" pitchFamily="34" charset="-120"/>
              </a:rPr>
              <a:t>;</a:t>
            </a:r>
            <a:endParaRPr lang="en-US" sz="1200" dirty="0"/>
          </a:p>
          <a:p>
            <a:pPr indent="0" marL="0">
              <a:spcAft>
                <a:spcPts val="400"/>
              </a:spcAft>
              <a:buNone/>
            </a:pPr>
            <a:r>
              <a:rPr lang="en-US" sz="1200" dirty="0">
                <a:solidFill>
                  <a:schemeClr val="accent5"/>
                </a:solidFill>
                <a:latin typeface="+mj-lt" pitchFamily="34" charset="0"/>
                <a:ea typeface="+mj-lt" pitchFamily="34" charset="-122"/>
                <a:cs typeface="+mj-lt" pitchFamily="34" charset="-120"/>
              </a:rPr>
              <a:t>const </a:t>
            </a:r>
            <a:pPr indent="0" marL="0">
              <a:spcAft>
                <a:spcPts val="400"/>
              </a:spcAft>
              <a:buNone/>
            </a:pPr>
            <a:r>
              <a:rPr lang="en-US" sz="1200" dirty="0">
                <a:solidFill>
                  <a:schemeClr val="tx1"/>
                </a:solidFill>
                <a:latin typeface="+mj-lt" pitchFamily="34" charset="0"/>
                <a:ea typeface="+mj-lt" pitchFamily="34" charset="-122"/>
                <a:cs typeface="+mj-lt" pitchFamily="34" charset="-120"/>
              </a:rPr>
              <a:t>aadhaarRegex = </a:t>
            </a:r>
            <a:pPr indent="0" marL="0">
              <a:spcAft>
                <a:spcPts val="400"/>
              </a:spcAft>
              <a:buNone/>
            </a:pPr>
            <a:r>
              <a:rPr lang="en-US" sz="1200" dirty="0">
                <a:solidFill>
                  <a:schemeClr val="accent2"/>
                </a:solidFill>
                <a:latin typeface="+mj-lt" pitchFamily="34" charset="0"/>
                <a:ea typeface="+mj-lt" pitchFamily="34" charset="-122"/>
                <a:cs typeface="+mj-lt" pitchFamily="34" charset="-120"/>
              </a:rPr>
              <a:t>/^[2-9]\d{11}$/</a:t>
            </a:r>
            <a:pPr indent="0" marL="0">
              <a:spcAft>
                <a:spcPts val="400"/>
              </a:spcAft>
              <a:buNone/>
            </a:pPr>
            <a:r>
              <a:rPr lang="en-US" sz="1200" dirty="0">
                <a:solidFill>
                  <a:schemeClr val="tx1"/>
                </a:solidFill>
                <a:latin typeface="+mj-lt" pitchFamily="34" charset="0"/>
                <a:ea typeface="+mj-lt" pitchFamily="34" charset="-122"/>
                <a:cs typeface="+mj-lt" pitchFamily="34" charset="-120"/>
              </a:rPr>
              <a:t>;</a:t>
            </a:r>
            <a:endParaRPr lang="en-US" sz="1200" dirty="0"/>
          </a:p>
          <a:p>
            <a:pPr indent="0" marL="0">
              <a:spcAft>
                <a:spcPts val="400"/>
              </a:spcAft>
              <a:buNone/>
            </a:pPr>
            <a:r>
              <a:rPr lang="en-US" sz="1200" dirty="0">
                <a:solidFill>
                  <a:schemeClr val="tx1"/>
                </a:solidFill>
                <a:latin typeface="+mj-lt" pitchFamily="34" charset="0"/>
                <a:ea typeface="+mj-lt" pitchFamily="34" charset="-122"/>
                <a:cs typeface="+mj-lt" pitchFamily="34" charset="-120"/>
              </a:rPr>
              <a:t> </a:t>
            </a:r>
            <a:endParaRPr lang="en-US" sz="1200" dirty="0"/>
          </a:p>
          <a:p>
            <a:pPr indent="0" marL="0">
              <a:spcAft>
                <a:spcPts val="400"/>
              </a:spcAft>
              <a:buNone/>
            </a:pPr>
            <a:r>
              <a:rPr lang="en-US" sz="1200" dirty="0">
                <a:solidFill>
                  <a:schemeClr val="accent5"/>
                </a:solidFill>
                <a:latin typeface="+mj-lt" pitchFamily="34" charset="0"/>
                <a:ea typeface="+mj-lt" pitchFamily="34" charset="-122"/>
                <a:cs typeface="+mj-lt" pitchFamily="34" charset="-120"/>
              </a:rPr>
              <a:t>if </a:t>
            </a:r>
            <a:pPr indent="0" marL="0">
              <a:spcAft>
                <a:spcPts val="400"/>
              </a:spcAft>
              <a:buNone/>
            </a:pPr>
            <a:r>
              <a:rPr lang="en-US" sz="1200" dirty="0">
                <a:solidFill>
                  <a:schemeClr val="tx1"/>
                </a:solidFill>
                <a:latin typeface="+mj-lt" pitchFamily="34" charset="0"/>
                <a:ea typeface="+mj-lt" pitchFamily="34" charset="-122"/>
                <a:cs typeface="+mj-lt" pitchFamily="34" charset="-120"/>
              </a:rPr>
              <a:t>(!mobileRegex.test(mobile)) {</a:t>
            </a:r>
            <a:endParaRPr lang="en-US" sz="1200" dirty="0"/>
          </a:p>
          <a:p>
            <a:pPr indent="0" marL="0">
              <a:spcAft>
                <a:spcPts val="400"/>
              </a:spcAft>
              <a:buNone/>
            </a:pPr>
            <a:r>
              <a:rPr lang="en-US" sz="1200" dirty="0">
                <a:solidFill>
                  <a:schemeClr val="tx1"/>
                </a:solidFill>
                <a:latin typeface="+mj-lt" pitchFamily="34" charset="0"/>
                <a:ea typeface="+mj-lt" pitchFamily="34" charset="-122"/>
                <a:cs typeface="+mj-lt" pitchFamily="34" charset="-120"/>
              </a:rPr>
              <a:t>  errors.push(</a:t>
            </a:r>
            <a:pPr indent="0" marL="0">
              <a:spcAft>
                <a:spcPts val="400"/>
              </a:spcAft>
              <a:buNone/>
            </a:pPr>
            <a:r>
              <a:rPr lang="en-US" sz="1200" dirty="0">
                <a:solidFill>
                  <a:schemeClr val="accent1"/>
                </a:solidFill>
                <a:latin typeface="+mj-lt" pitchFamily="34" charset="0"/>
                <a:ea typeface="+mj-lt" pitchFamily="34" charset="-122"/>
                <a:cs typeface="+mj-lt" pitchFamily="34" charset="-120"/>
              </a:rPr>
              <a:t>"Invalid Indian mobile number."</a:t>
            </a:r>
            <a:pPr indent="0" marL="0">
              <a:spcAft>
                <a:spcPts val="400"/>
              </a:spcAft>
              <a:buNone/>
            </a:pPr>
            <a:r>
              <a:rPr lang="en-US" sz="1200" dirty="0">
                <a:solidFill>
                  <a:schemeClr val="tx1"/>
                </a:solidFill>
                <a:latin typeface="+mj-lt" pitchFamily="34" charset="0"/>
                <a:ea typeface="+mj-lt" pitchFamily="34" charset="-122"/>
                <a:cs typeface="+mj-lt" pitchFamily="34" charset="-120"/>
              </a:rPr>
              <a:t>);</a:t>
            </a:r>
            <a:endParaRPr lang="en-US" sz="1200" dirty="0"/>
          </a:p>
          <a:p>
            <a:pPr indent="0" marL="0">
              <a:spcAft>
                <a:spcPts val="400"/>
              </a:spcAft>
              <a:buNone/>
            </a:pPr>
            <a:r>
              <a:rPr lang="en-US" sz="1200" dirty="0">
                <a:solidFill>
                  <a:schemeClr val="tx1"/>
                </a:solidFill>
                <a:latin typeface="+mj-lt" pitchFamily="34" charset="0"/>
                <a:ea typeface="+mj-lt" pitchFamily="34" charset="-122"/>
                <a:cs typeface="+mj-lt" pitchFamily="34" charset="-120"/>
              </a:rPr>
              <a:t>}</a:t>
            </a:r>
            <a:endParaRPr lang="en-US" sz="1200" dirty="0"/>
          </a:p>
          <a:p>
            <a:pPr indent="0" marL="0">
              <a:spcAft>
                <a:spcPts val="400"/>
              </a:spcAft>
              <a:buNone/>
            </a:pPr>
            <a:r>
              <a:rPr lang="en-US" sz="1200" dirty="0">
                <a:solidFill>
                  <a:schemeClr val="tx1"/>
                </a:solidFill>
                <a:latin typeface="+mj-lt" pitchFamily="34" charset="0"/>
                <a:ea typeface="+mj-lt" pitchFamily="34" charset="-122"/>
                <a:cs typeface="+mj-lt" pitchFamily="34" charset="-120"/>
              </a:rPr>
              <a:t> </a:t>
            </a:r>
            <a:endParaRPr lang="en-US" sz="1200" dirty="0"/>
          </a:p>
          <a:p>
            <a:pPr indent="0" marL="0">
              <a:spcAft>
                <a:spcPts val="400"/>
              </a:spcAft>
              <a:buNone/>
            </a:pPr>
            <a:r>
              <a:rPr lang="en-US" sz="1200" i="1" dirty="0">
                <a:solidFill>
                  <a:schemeClr val="tx2"/>
                </a:solidFill>
                <a:latin typeface="+mj-lt" pitchFamily="34" charset="0"/>
                <a:ea typeface="+mj-lt" pitchFamily="34" charset="-122"/>
                <a:cs typeface="+mj-lt" pitchFamily="34" charset="-120"/>
              </a:rPr>
              <a:t>// same check for PAN and Aadhaar</a:t>
            </a:r>
            <a:endParaRPr lang="en-US" sz="1200" dirty="0"/>
          </a:p>
        </p:txBody>
      </p:sp>
      <p:sp>
        <p:nvSpPr>
          <p:cNvPr id="9" name="Logic card"/>
          <p:cNvSpPr/>
          <p:nvPr/>
        </p:nvSpPr>
        <p:spPr>
          <a:xfrm>
            <a:off x="6035040" y="1371600"/>
            <a:ext cx="2560320" cy="3108960"/>
          </a:xfrm>
          <a:prstGeom prst="roundRect">
            <a:avLst>
              <a:gd name="adj" fmla="val 2857"/>
            </a:avLst>
          </a:prstGeom>
          <a:solidFill>
            <a:schemeClr val="bg2"/>
          </a:solidFill>
          <a:ln w="9525">
            <a:solidFill>
              <a:schemeClr val="accent6"/>
            </a:solidFill>
            <a:prstDash val="solid"/>
          </a:ln>
        </p:spPr>
      </p:sp>
      <p:sp>
        <p:nvSpPr>
          <p:cNvPr id="10" name="Logic heading"/>
          <p:cNvSpPr txBox="1"/>
          <p:nvPr/>
        </p:nvSpPr>
        <p:spPr>
          <a:xfrm>
            <a:off x="6217920" y="1554480"/>
            <a:ext cx="2194560" cy="274320"/>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mj-lt" pitchFamily="34" charset="0"/>
                <a:ea typeface="+mj-lt" pitchFamily="34" charset="-122"/>
                <a:cs typeface="+mj-lt" pitchFamily="34" charset="-120"/>
              </a:rPr>
              <a:t>PASS / FAIL</a:t>
            </a:r>
            <a:endParaRPr lang="en-US" sz="1400" dirty="0"/>
          </a:p>
        </p:txBody>
      </p:sp>
      <p:sp>
        <p:nvSpPr>
          <p:cNvPr id="11" name="Logic list"/>
          <p:cNvSpPr txBox="1"/>
          <p:nvPr/>
        </p:nvSpPr>
        <p:spPr>
          <a:xfrm>
            <a:off x="6217920" y="1965960"/>
            <a:ext cx="2194560" cy="23774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Each failed check adds a message to an errors list</a:t>
            </a:r>
            <a:endParaRPr lang="en-US" sz="1400" dirty="0"/>
          </a:p>
          <a:p>
            <a:pPr marL="177800" indent="-177800">
              <a:spcAft>
                <a:spcPts val="800"/>
              </a:spcAft>
              <a:buSzPct val="100000"/>
              <a:buChar char="•"/>
            </a:pPr>
            <a:r>
              <a:rPr lang="en-US" sz="1400" dirty="0">
                <a:solidFill>
                  <a:schemeClr val="tx1"/>
                </a:solidFill>
              </a:rPr>
              <a:t>Empty list: show the green success message</a:t>
            </a:r>
            <a:endParaRPr lang="en-US" sz="1400" dirty="0"/>
          </a:p>
          <a:p>
            <a:pPr marL="177800" indent="-177800">
              <a:spcAft>
                <a:spcPts val="800"/>
              </a:spcAft>
              <a:buSzPct val="100000"/>
              <a:buChar char="•"/>
            </a:pPr>
            <a:r>
              <a:rPr lang="en-US" sz="1400" dirty="0">
                <a:solidFill>
                  <a:schemeClr val="tx1"/>
                </a:solidFill>
              </a:rPr>
              <a:t>Otherwise: show every error in red</a:t>
            </a:r>
            <a:endParaRPr lang="en-US" sz="14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09 // TESTING</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Test Cases</a:t>
            </a:r>
            <a:endParaRPr lang="en-US" sz="3000" dirty="0"/>
          </a:p>
        </p:txBody>
      </p:sp>
      <p:graphicFrame>
        <p:nvGraphicFramePr>
          <p:cNvPr id="11" name="Test case table"/>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737360"/>
                <a:gridCol w="1828800"/>
                <a:gridCol w="914400"/>
                <a:gridCol w="3566160"/>
              </a:tblGrid>
              <a:tr h="384048">
                <a:tc>
                  <a:txBody>
                    <a:bodyPr/>
                    <a:lstStyle/>
                    <a:p>
                      <a:pPr indent="0" marL="0">
                        <a:buNone/>
                      </a:pPr>
                      <a:r>
                        <a:rPr lang="en-US" sz="1400" b="1" dirty="0">
                          <a:solidFill>
                            <a:schemeClr val="tx2"/>
                          </a:solidFill>
                        </a:rPr>
                        <a:t>Test</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Sample input</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Result</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Reason</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Valid mobile</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9876543210</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2"/>
                          </a:solidFill>
                        </a:rPr>
                        <a:t>Pass</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10 digits; begins with 9</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400" dirty="0">
                          <a:solidFill>
                            <a:schemeClr val="tx1"/>
                          </a:solidFill>
                        </a:rPr>
                        <a:t>Invalid mobile</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1234567890</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3"/>
                          </a:solidFill>
                        </a:rPr>
                        <a:t>Fail</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Begins with a digit outside 6–9</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400" dirty="0">
                          <a:solidFill>
                            <a:schemeClr val="tx1"/>
                          </a:solidFill>
                        </a:rPr>
                        <a:t>Valid PAN</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ABCDE1234F</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2"/>
                          </a:solidFill>
                        </a:rPr>
                        <a:t>Pass</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Matches the PAN pattern</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400" dirty="0">
                          <a:solidFill>
                            <a:schemeClr val="tx1"/>
                          </a:solidFill>
                        </a:rPr>
                        <a:t>Invalid PAN</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AB12345678</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3"/>
                          </a:solidFill>
                        </a:rPr>
                        <a:t>Fail</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Wrong letter/digit positions</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400" dirty="0">
                          <a:solidFill>
                            <a:schemeClr val="tx1"/>
                          </a:solidFill>
                        </a:rPr>
                        <a:t>Valid Aadhaar</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234567890123</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2"/>
                          </a:solidFill>
                        </a:rPr>
                        <a:t>Pass</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12 digits; begins with 2</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400" dirty="0">
                          <a:solidFill>
                            <a:schemeClr val="tx1"/>
                          </a:solidFill>
                        </a:rPr>
                        <a:t>Invalid Aadhaar</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123456789012</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3"/>
                          </a:solidFill>
                        </a:rPr>
                        <a:t>Fail</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Begins with 1</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400" dirty="0">
                          <a:solidFill>
                            <a:schemeClr val="tx1"/>
                          </a:solidFill>
                        </a:rPr>
                        <a:t>Missing field</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latin typeface="+mj-lt" pitchFamily="34" charset="0"/>
                          <a:ea typeface="+mj-lt" pitchFamily="34" charset="-122"/>
                          <a:cs typeface="+mj-lt" pitchFamily="34" charset="-120"/>
                        </a:rPr>
                        <a:t>(blank)</a:t>
                      </a:r>
                      <a:endParaRPr lang="en-US" sz="1300" dirty="0">
                        <a:latin typeface="+mj-lt" charset="0"/>
                        <a:ea typeface="+mj-lt" charset="0"/>
                        <a:cs typeface="+mj-lt" charset="0"/>
                      </a:endParaRPr>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1"/>
                          </a:solidFill>
                        </a:rPr>
                        <a:t>Blocked</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2"/>
                          </a:solidFill>
                        </a:rPr>
                        <a:t>HTML required attribute stops submit</a:t>
                      </a:r>
                      <a:endParaRPr lang="en-US" sz="1400" dirty="0"/>
                    </a:p>
                  </a:txBody>
                  <a:tcPr marL="109728" marR="109728" marT="27432" marB="27432"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10 // CAUTION</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Limitations &amp; Security</a:t>
            </a:r>
            <a:endParaRPr lang="en-US" sz="3000" dirty="0"/>
          </a:p>
        </p:txBody>
      </p:sp>
      <p:sp>
        <p:nvSpPr>
          <p:cNvPr id="4" name="Limitations card"/>
          <p:cNvSpPr/>
          <p:nvPr/>
        </p:nvSpPr>
        <p:spPr>
          <a:xfrm>
            <a:off x="548640" y="1371600"/>
            <a:ext cx="4754880" cy="3108960"/>
          </a:xfrm>
          <a:prstGeom prst="roundRect">
            <a:avLst>
              <a:gd name="adj" fmla="val 2353"/>
            </a:avLst>
          </a:prstGeom>
          <a:solidFill>
            <a:schemeClr val="bg2"/>
          </a:solidFill>
          <a:ln w="9525">
            <a:solidFill>
              <a:schemeClr val="accent6"/>
            </a:solidFill>
            <a:prstDash val="solid"/>
          </a:ln>
        </p:spPr>
      </p:sp>
      <p:pic>
        <p:nvPicPr>
          <p:cNvPr id="5" name="Limitations icon" descr="Warning">    </p:cNvPr>
          <p:cNvPicPr>
            <a:picLocks noChangeAspect="1"/>
          </p:cNvPicPr>
          <p:nvPr/>
        </p:nvPicPr>
        <p:blipFill>
          <a:blip r:embed="rId1"/>
          <a:stretch>
            <a:fillRect/>
          </a:stretch>
        </p:blipFill>
        <p:spPr>
          <a:xfrm>
            <a:off x="777240" y="1572768"/>
            <a:ext cx="274320" cy="274320"/>
          </a:xfrm>
          <a:prstGeom prst="rect">
            <a:avLst/>
          </a:prstGeom>
        </p:spPr>
      </p:pic>
      <p:sp>
        <p:nvSpPr>
          <p:cNvPr id="6" name="Limitations heading"/>
          <p:cNvSpPr txBox="1"/>
          <p:nvPr/>
        </p:nvSpPr>
        <p:spPr>
          <a:xfrm>
            <a:off x="1188720" y="1572768"/>
            <a:ext cx="3840480" cy="274320"/>
          </a:xfrm>
          <a:prstGeom prst="rect">
            <a:avLst/>
          </a:prstGeom>
          <a:noFill/>
          <a:ln/>
        </p:spPr>
        <p:txBody>
          <a:bodyPr wrap="square" lIns="0" tIns="0" rIns="0" bIns="0" rtlCol="0" anchor="ctr"/>
          <a:lstStyle/>
          <a:p>
            <a:pPr indent="0" marL="0">
              <a:buNone/>
            </a:pPr>
            <a:r>
              <a:rPr lang="en-US" sz="1400" b="1" spc="100" kern="0" dirty="0">
                <a:solidFill>
                  <a:schemeClr val="accent3"/>
                </a:solidFill>
                <a:latin typeface="+mj-lt" pitchFamily="34" charset="0"/>
                <a:ea typeface="+mj-lt" pitchFamily="34" charset="-122"/>
                <a:cs typeface="+mj-lt" pitchFamily="34" charset="-120"/>
              </a:rPr>
              <a:t>LIMITATIONS</a:t>
            </a:r>
            <a:endParaRPr lang="en-US" sz="1400" dirty="0"/>
          </a:p>
        </p:txBody>
      </p:sp>
      <p:sp>
        <p:nvSpPr>
          <p:cNvPr id="7" name="Limitations list"/>
          <p:cNvSpPr txBox="1"/>
          <p:nvPr/>
        </p:nvSpPr>
        <p:spPr>
          <a:xfrm>
            <a:off x="777240" y="2103120"/>
            <a:ext cx="4297680" cy="228600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tx1"/>
                </a:solidFill>
              </a:rPr>
              <a:t>Checks format only, not identity or government records</a:t>
            </a:r>
            <a:endParaRPr lang="en-US" sz="1600" dirty="0"/>
          </a:p>
          <a:p>
            <a:pPr marL="177800" indent="-177800">
              <a:spcAft>
                <a:spcPts val="800"/>
              </a:spcAft>
              <a:buSzPct val="100000"/>
              <a:buChar char="•"/>
            </a:pPr>
            <a:r>
              <a:rPr lang="en-US" sz="1600" dirty="0">
                <a:solidFill>
                  <a:schemeClr val="tx1"/>
                </a:solidFill>
              </a:rPr>
              <a:t>A matching number may not be active or issued</a:t>
            </a:r>
            <a:endParaRPr lang="en-US" sz="1600" dirty="0"/>
          </a:p>
          <a:p>
            <a:pPr marL="177800" indent="-177800">
              <a:spcAft>
                <a:spcPts val="800"/>
              </a:spcAft>
              <a:buSzPct val="100000"/>
              <a:buChar char="•"/>
            </a:pPr>
            <a:r>
              <a:rPr lang="en-US" sz="1600" dirty="0">
                <a:solidFill>
                  <a:schemeClr val="tx1"/>
                </a:solidFill>
              </a:rPr>
              <a:t>No Aadhaar checksum or UIDAI verification</a:t>
            </a:r>
            <a:endParaRPr lang="en-US" sz="1600" dirty="0"/>
          </a:p>
          <a:p>
            <a:pPr marL="177800" indent="-177800">
              <a:spcAft>
                <a:spcPts val="800"/>
              </a:spcAft>
              <a:buSzPct val="100000"/>
              <a:buChar char="•"/>
            </a:pPr>
            <a:r>
              <a:rPr lang="en-US" sz="1600" dirty="0">
                <a:solidFill>
                  <a:schemeClr val="tx1"/>
                </a:solidFill>
              </a:rPr>
              <a:t>Client-side checks can be bypassed, so validate on the server too</a:t>
            </a:r>
            <a:endParaRPr lang="en-US" sz="1600" dirty="0"/>
          </a:p>
        </p:txBody>
      </p:sp>
      <p:sp>
        <p:nvSpPr>
          <p:cNvPr id="8" name="Security card"/>
          <p:cNvSpPr/>
          <p:nvPr/>
        </p:nvSpPr>
        <p:spPr>
          <a:xfrm>
            <a:off x="5486400" y="1371600"/>
            <a:ext cx="3108960" cy="3108960"/>
          </a:xfrm>
          <a:prstGeom prst="roundRect">
            <a:avLst>
              <a:gd name="adj" fmla="val 2353"/>
            </a:avLst>
          </a:prstGeom>
          <a:solidFill>
            <a:schemeClr val="bg2"/>
          </a:solidFill>
          <a:ln w="9525">
            <a:solidFill>
              <a:schemeClr val="accent6"/>
            </a:solidFill>
            <a:prstDash val="solid"/>
          </a:ln>
        </p:spPr>
      </p:sp>
      <p:pic>
        <p:nvPicPr>
          <p:cNvPr id="9" name="Security icon" descr="Lock">    </p:cNvPr>
          <p:cNvPicPr>
            <a:picLocks noChangeAspect="1"/>
          </p:cNvPicPr>
          <p:nvPr/>
        </p:nvPicPr>
        <p:blipFill>
          <a:blip r:embed="rId2"/>
          <a:stretch>
            <a:fillRect/>
          </a:stretch>
        </p:blipFill>
        <p:spPr>
          <a:xfrm>
            <a:off x="5715000" y="1572768"/>
            <a:ext cx="274320" cy="274320"/>
          </a:xfrm>
          <a:prstGeom prst="rect">
            <a:avLst/>
          </a:prstGeom>
        </p:spPr>
      </p:pic>
      <p:sp>
        <p:nvSpPr>
          <p:cNvPr id="10" name="Security heading"/>
          <p:cNvSpPr txBox="1"/>
          <p:nvPr/>
        </p:nvSpPr>
        <p:spPr>
          <a:xfrm>
            <a:off x="6126480" y="1572768"/>
            <a:ext cx="22860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HANDLE WITH CARE</a:t>
            </a:r>
            <a:endParaRPr lang="en-US" sz="1400" dirty="0"/>
          </a:p>
        </p:txBody>
      </p:sp>
      <p:sp>
        <p:nvSpPr>
          <p:cNvPr id="11" name="Security text"/>
          <p:cNvSpPr txBox="1"/>
          <p:nvPr/>
        </p:nvSpPr>
        <p:spPr>
          <a:xfrm>
            <a:off x="5715000" y="2103120"/>
            <a:ext cx="2697480" cy="2286000"/>
          </a:xfrm>
          <a:prstGeom prst="rect">
            <a:avLst/>
          </a:prstGeom>
          <a:noFill/>
          <a:ln/>
        </p:spPr>
        <p:txBody>
          <a:bodyPr wrap="square" lIns="0" tIns="0" rIns="0" bIns="0" rtlCol="0" anchor="t"/>
          <a:lstStyle/>
          <a:p>
            <a:pPr indent="0" marL="0">
              <a:buNone/>
            </a:pPr>
            <a:r>
              <a:rPr lang="en-US" sz="1600" dirty="0">
                <a:solidFill>
                  <a:schemeClr val="tx1"/>
                </a:solidFill>
              </a:rPr>
              <a:t>Aadhaar and PAN are sensitive personal data. Collect them only when necessary, secure and restrict access, and never log or expose them without need.</a:t>
            </a:r>
            <a:endParaRPr lang="en-US" sz="16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56032"/>
            <a:ext cx="5486400" cy="22860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11 // NEXT</a:t>
            </a:r>
            <a:endParaRPr lang="en-US" sz="12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000" b="1" dirty="0">
                <a:solidFill>
                  <a:schemeClr val="tx1"/>
                </a:solidFill>
              </a:rPr>
              <a:t>Future Enhancements</a:t>
            </a:r>
            <a:endParaRPr lang="en-US" sz="3000" dirty="0"/>
          </a:p>
        </p:txBody>
      </p:sp>
      <p:sp>
        <p:nvSpPr>
          <p:cNvPr id="4" name="Enhancement row 1"/>
          <p:cNvSpPr/>
          <p:nvPr/>
        </p:nvSpPr>
        <p:spPr>
          <a:xfrm>
            <a:off x="548640" y="1371600"/>
            <a:ext cx="8046720" cy="548640"/>
          </a:xfrm>
          <a:prstGeom prst="roundRect">
            <a:avLst>
              <a:gd name="adj" fmla="val 13333"/>
            </a:avLst>
          </a:prstGeom>
          <a:solidFill>
            <a:schemeClr val="bg2"/>
          </a:solidFill>
          <a:ln w="9525">
            <a:solidFill>
              <a:schemeClr val="accent6"/>
            </a:solidFill>
            <a:prstDash val="solid"/>
          </a:ln>
        </p:spPr>
      </p:sp>
      <p:sp>
        <p:nvSpPr>
          <p:cNvPr id="5" name="Enhancement number 1"/>
          <p:cNvSpPr txBox="1"/>
          <p:nvPr/>
        </p:nvSpPr>
        <p:spPr>
          <a:xfrm>
            <a:off x="731520" y="1371600"/>
            <a:ext cx="640080" cy="54864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01</a:t>
            </a:r>
            <a:endParaRPr lang="en-US" sz="1800" dirty="0"/>
          </a:p>
        </p:txBody>
      </p:sp>
      <p:sp>
        <p:nvSpPr>
          <p:cNvPr id="6" name="Enhancement text 1"/>
          <p:cNvSpPr txBox="1"/>
          <p:nvPr/>
        </p:nvSpPr>
        <p:spPr>
          <a:xfrm>
            <a:off x="1463040" y="1371600"/>
            <a:ext cx="6949440" cy="548640"/>
          </a:xfrm>
          <a:prstGeom prst="rect">
            <a:avLst/>
          </a:prstGeom>
          <a:noFill/>
          <a:ln/>
        </p:spPr>
        <p:txBody>
          <a:bodyPr wrap="square" lIns="0" tIns="0" rIns="0" bIns="0" rtlCol="0" anchor="ctr"/>
          <a:lstStyle/>
          <a:p>
            <a:pPr indent="0" marL="0">
              <a:buNone/>
            </a:pPr>
            <a:r>
              <a:rPr lang="en-US" sz="1500" dirty="0">
                <a:solidFill>
                  <a:schemeClr val="tx1"/>
                </a:solidFill>
              </a:rPr>
              <a:t>Inline feedback beside each field as the user types</a:t>
            </a:r>
            <a:endParaRPr lang="en-US" sz="1500" dirty="0"/>
          </a:p>
        </p:txBody>
      </p:sp>
      <p:sp>
        <p:nvSpPr>
          <p:cNvPr id="7" name="Enhancement row 2"/>
          <p:cNvSpPr/>
          <p:nvPr/>
        </p:nvSpPr>
        <p:spPr>
          <a:xfrm>
            <a:off x="548640" y="2011680"/>
            <a:ext cx="8046720" cy="548640"/>
          </a:xfrm>
          <a:prstGeom prst="roundRect">
            <a:avLst>
              <a:gd name="adj" fmla="val 13333"/>
            </a:avLst>
          </a:prstGeom>
          <a:solidFill>
            <a:schemeClr val="bg2"/>
          </a:solidFill>
          <a:ln w="9525">
            <a:solidFill>
              <a:schemeClr val="accent6"/>
            </a:solidFill>
            <a:prstDash val="solid"/>
          </a:ln>
        </p:spPr>
      </p:sp>
      <p:sp>
        <p:nvSpPr>
          <p:cNvPr id="8" name="Enhancement number 2"/>
          <p:cNvSpPr txBox="1"/>
          <p:nvPr/>
        </p:nvSpPr>
        <p:spPr>
          <a:xfrm>
            <a:off x="731520" y="2011680"/>
            <a:ext cx="640080" cy="54864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02</a:t>
            </a:r>
            <a:endParaRPr lang="en-US" sz="1800" dirty="0"/>
          </a:p>
        </p:txBody>
      </p:sp>
      <p:sp>
        <p:nvSpPr>
          <p:cNvPr id="9" name="Enhancement text 2"/>
          <p:cNvSpPr txBox="1"/>
          <p:nvPr/>
        </p:nvSpPr>
        <p:spPr>
          <a:xfrm>
            <a:off x="1463040" y="2011680"/>
            <a:ext cx="6949440" cy="548640"/>
          </a:xfrm>
          <a:prstGeom prst="rect">
            <a:avLst/>
          </a:prstGeom>
          <a:noFill/>
          <a:ln/>
        </p:spPr>
        <p:txBody>
          <a:bodyPr wrap="square" lIns="0" tIns="0" rIns="0" bIns="0" rtlCol="0" anchor="ctr"/>
          <a:lstStyle/>
          <a:p>
            <a:pPr indent="0" marL="0">
              <a:buNone/>
            </a:pPr>
            <a:r>
              <a:rPr lang="en-US" sz="1500" dirty="0">
                <a:solidFill>
                  <a:schemeClr val="tx1"/>
                </a:solidFill>
              </a:rPr>
              <a:t>Input masking or spacing for readability</a:t>
            </a:r>
            <a:endParaRPr lang="en-US" sz="1500" dirty="0"/>
          </a:p>
        </p:txBody>
      </p:sp>
      <p:sp>
        <p:nvSpPr>
          <p:cNvPr id="10" name="Enhancement row 3"/>
          <p:cNvSpPr/>
          <p:nvPr/>
        </p:nvSpPr>
        <p:spPr>
          <a:xfrm>
            <a:off x="548640" y="2651760"/>
            <a:ext cx="8046720" cy="548640"/>
          </a:xfrm>
          <a:prstGeom prst="roundRect">
            <a:avLst>
              <a:gd name="adj" fmla="val 13333"/>
            </a:avLst>
          </a:prstGeom>
          <a:solidFill>
            <a:schemeClr val="bg2"/>
          </a:solidFill>
          <a:ln w="9525">
            <a:solidFill>
              <a:schemeClr val="accent6"/>
            </a:solidFill>
            <a:prstDash val="solid"/>
          </a:ln>
        </p:spPr>
      </p:sp>
      <p:sp>
        <p:nvSpPr>
          <p:cNvPr id="11" name="Enhancement number 3"/>
          <p:cNvSpPr txBox="1"/>
          <p:nvPr/>
        </p:nvSpPr>
        <p:spPr>
          <a:xfrm>
            <a:off x="731520" y="2651760"/>
            <a:ext cx="640080" cy="54864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03</a:t>
            </a:r>
            <a:endParaRPr lang="en-US" sz="1800" dirty="0"/>
          </a:p>
        </p:txBody>
      </p:sp>
      <p:sp>
        <p:nvSpPr>
          <p:cNvPr id="12" name="Enhancement text 3"/>
          <p:cNvSpPr txBox="1"/>
          <p:nvPr/>
        </p:nvSpPr>
        <p:spPr>
          <a:xfrm>
            <a:off x="1463040" y="2651760"/>
            <a:ext cx="6949440" cy="548640"/>
          </a:xfrm>
          <a:prstGeom prst="rect">
            <a:avLst/>
          </a:prstGeom>
          <a:noFill/>
          <a:ln/>
        </p:spPr>
        <p:txBody>
          <a:bodyPr wrap="square" lIns="0" tIns="0" rIns="0" bIns="0" rtlCol="0" anchor="ctr"/>
          <a:lstStyle/>
          <a:p>
            <a:pPr indent="0" marL="0">
              <a:buNone/>
            </a:pPr>
            <a:r>
              <a:rPr lang="en-US" sz="1500" dirty="0">
                <a:solidFill>
                  <a:schemeClr val="tx1"/>
                </a:solidFill>
              </a:rPr>
              <a:t>Server-side validation for apps that send data to a backend</a:t>
            </a:r>
            <a:endParaRPr lang="en-US" sz="1500" dirty="0"/>
          </a:p>
        </p:txBody>
      </p:sp>
      <p:sp>
        <p:nvSpPr>
          <p:cNvPr id="13" name="Enhancement row 4"/>
          <p:cNvSpPr/>
          <p:nvPr/>
        </p:nvSpPr>
        <p:spPr>
          <a:xfrm>
            <a:off x="548640" y="3291840"/>
            <a:ext cx="8046720" cy="548640"/>
          </a:xfrm>
          <a:prstGeom prst="roundRect">
            <a:avLst>
              <a:gd name="adj" fmla="val 13333"/>
            </a:avLst>
          </a:prstGeom>
          <a:solidFill>
            <a:schemeClr val="bg2"/>
          </a:solidFill>
          <a:ln w="9525">
            <a:solidFill>
              <a:schemeClr val="accent6"/>
            </a:solidFill>
            <a:prstDash val="solid"/>
          </a:ln>
        </p:spPr>
      </p:sp>
      <p:sp>
        <p:nvSpPr>
          <p:cNvPr id="14" name="Enhancement number 4"/>
          <p:cNvSpPr txBox="1"/>
          <p:nvPr/>
        </p:nvSpPr>
        <p:spPr>
          <a:xfrm>
            <a:off x="731520" y="3291840"/>
            <a:ext cx="640080" cy="54864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04</a:t>
            </a:r>
            <a:endParaRPr lang="en-US" sz="1800" dirty="0"/>
          </a:p>
        </p:txBody>
      </p:sp>
      <p:sp>
        <p:nvSpPr>
          <p:cNvPr id="15" name="Enhancement text 4"/>
          <p:cNvSpPr txBox="1"/>
          <p:nvPr/>
        </p:nvSpPr>
        <p:spPr>
          <a:xfrm>
            <a:off x="1463040" y="3291840"/>
            <a:ext cx="6949440" cy="548640"/>
          </a:xfrm>
          <a:prstGeom prst="rect">
            <a:avLst/>
          </a:prstGeom>
          <a:noFill/>
          <a:ln/>
        </p:spPr>
        <p:txBody>
          <a:bodyPr wrap="square" lIns="0" tIns="0" rIns="0" bIns="0" rtlCol="0" anchor="ctr"/>
          <a:lstStyle/>
          <a:p>
            <a:pPr indent="0" marL="0">
              <a:buNone/>
            </a:pPr>
            <a:r>
              <a:rPr lang="en-US" sz="1500" dirty="0">
                <a:solidFill>
                  <a:schemeClr val="tx1"/>
                </a:solidFill>
              </a:rPr>
              <a:t>Consent, data minimization, encryption and retention limits</a:t>
            </a:r>
            <a:endParaRPr lang="en-US" sz="1500" dirty="0"/>
          </a:p>
        </p:txBody>
      </p:sp>
      <p:sp>
        <p:nvSpPr>
          <p:cNvPr id="16" name="Enhancement row 5"/>
          <p:cNvSpPr/>
          <p:nvPr/>
        </p:nvSpPr>
        <p:spPr>
          <a:xfrm>
            <a:off x="548640" y="3931920"/>
            <a:ext cx="8046720" cy="548640"/>
          </a:xfrm>
          <a:prstGeom prst="roundRect">
            <a:avLst>
              <a:gd name="adj" fmla="val 13333"/>
            </a:avLst>
          </a:prstGeom>
          <a:solidFill>
            <a:schemeClr val="bg2"/>
          </a:solidFill>
          <a:ln w="9525">
            <a:solidFill>
              <a:schemeClr val="accent6"/>
            </a:solidFill>
            <a:prstDash val="solid"/>
          </a:ln>
        </p:spPr>
      </p:sp>
      <p:sp>
        <p:nvSpPr>
          <p:cNvPr id="17" name="Enhancement number 5"/>
          <p:cNvSpPr txBox="1"/>
          <p:nvPr/>
        </p:nvSpPr>
        <p:spPr>
          <a:xfrm>
            <a:off x="731520" y="3931920"/>
            <a:ext cx="640080" cy="54864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05</a:t>
            </a:r>
            <a:endParaRPr lang="en-US" sz="1800" dirty="0"/>
          </a:p>
        </p:txBody>
      </p:sp>
      <p:sp>
        <p:nvSpPr>
          <p:cNvPr id="18" name="Enhancement text 5"/>
          <p:cNvSpPr txBox="1"/>
          <p:nvPr/>
        </p:nvSpPr>
        <p:spPr>
          <a:xfrm>
            <a:off x="1463040" y="3931920"/>
            <a:ext cx="6949440" cy="548640"/>
          </a:xfrm>
          <a:prstGeom prst="rect">
            <a:avLst/>
          </a:prstGeom>
          <a:noFill/>
          <a:ln/>
        </p:spPr>
        <p:txBody>
          <a:bodyPr wrap="square" lIns="0" tIns="0" rIns="0" bIns="0" rtlCol="0" anchor="ctr"/>
          <a:lstStyle/>
          <a:p>
            <a:pPr indent="0" marL="0">
              <a:buNone/>
            </a:pPr>
            <a:r>
              <a:rPr lang="en-US" sz="1500" dirty="0">
                <a:solidFill>
                  <a:schemeClr val="tx1"/>
                </a:solidFill>
              </a:rPr>
              <a:t>Authorized verification services where real verification is needed</a:t>
            </a:r>
            <a:endParaRPr lang="en-US" sz="1500" dirty="0"/>
          </a:p>
        </p:txBody>
      </p:sp>
      <p:sp>
        <p:nvSpPr>
          <p:cNvPr id="25" name="Slide Number Placeholder 0"/>
          <p:cNvSpPr>
            <a:spLocks noGrp="1"/>
          </p:cNvSpPr>
          <p:nvPr>
            <p:ph type="sldNum" sz="quarter" idx="4294967295"/>
          </p:nvPr>
        </p:nvSpPr>
        <p:spPr>
          <a:xfrm>
            <a:off x="7680960" y="468172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548640"/>
            <a:ext cx="4754880" cy="256032"/>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CONCLUSION</a:t>
            </a:r>
            <a:endParaRPr lang="en-US" sz="1200" dirty="0"/>
          </a:p>
        </p:txBody>
      </p:sp>
      <p:sp>
        <p:nvSpPr>
          <p:cNvPr id="3" name="Text 1"/>
          <p:cNvSpPr/>
          <p:nvPr>
            <p:ph idx="101" type="title" hasCustomPrompt="1"/>
          </p:nvPr>
        </p:nvSpPr>
        <p:spPr>
          <a:xfrm>
            <a:off x="548640" y="914400"/>
            <a:ext cx="4754880" cy="1188720"/>
          </a:xfrm>
          <a:prstGeom prst="rect">
            <a:avLst/>
          </a:prstGeom>
          <a:noFill/>
          <a:ln/>
        </p:spPr>
        <p:txBody>
          <a:bodyPr wrap="square" lIns="0" tIns="0" rIns="0" bIns="0" rtlCol="0" anchor="t"/>
          <a:lstStyle/>
          <a:p>
            <a:pPr algn="l" indent="0" marL="0">
              <a:buNone/>
            </a:pPr>
            <a:r>
              <a:rPr lang="en-US" sz="3200" b="1" dirty="0">
                <a:solidFill>
                  <a:schemeClr val="tx1"/>
                </a:solidFill>
              </a:rPr>
              <a:t>Small form, solid fundamentals</a:t>
            </a:r>
            <a:endParaRPr lang="en-US" sz="3200" dirty="0"/>
          </a:p>
        </p:txBody>
      </p:sp>
      <p:sp>
        <p:nvSpPr>
          <p:cNvPr id="4" name="Text 1"/>
          <p:cNvSpPr/>
          <p:nvPr>
            <p:ph idx="102" type="body" hasCustomPrompt="1"/>
          </p:nvPr>
        </p:nvSpPr>
        <p:spPr>
          <a:xfrm>
            <a:off x="548640" y="2286000"/>
            <a:ext cx="4754880" cy="1371600"/>
          </a:xfrm>
          <a:prstGeom prst="rect">
            <a:avLst/>
          </a:prstGeom>
          <a:noFill/>
          <a:ln/>
        </p:spPr>
        <p:txBody>
          <a:bodyPr wrap="square" lIns="0" tIns="0" rIns="0" bIns="0" rtlCol="0" anchor="t"/>
          <a:lstStyle/>
          <a:p>
            <a:pPr algn="l" indent="0" marL="0">
              <a:buNone/>
            </a:pPr>
            <a:r>
              <a:rPr lang="en-US" sz="1600" dirty="0">
                <a:solidFill>
                  <a:schemeClr val="tx2"/>
                </a:solidFill>
              </a:rPr>
              <a:t>HTML, CSS, JavaScript and Regex combine into an interactive validator with instant feedback. Its results are format checks only, not official verification of identity or document validity.</a:t>
            </a:r>
            <a:endParaRPr lang="en-US" sz="1600" dirty="0"/>
          </a:p>
        </p:txBody>
      </p:sp>
      <p:sp>
        <p:nvSpPr>
          <p:cNvPr id="5" name="Thank you"/>
          <p:cNvSpPr txBox="1"/>
          <p:nvPr/>
        </p:nvSpPr>
        <p:spPr>
          <a:xfrm>
            <a:off x="548640" y="3931920"/>
            <a:ext cx="4754880" cy="41148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Thank you</a:t>
            </a:r>
            <a:endParaRPr lang="en-US" sz="2400" dirty="0"/>
          </a:p>
        </p:txBody>
      </p:sp>
      <p:sp>
        <p:nvSpPr>
          <p:cNvPr id="6" name="Names"/>
          <p:cNvSpPr txBox="1"/>
          <p:nvPr/>
        </p:nvSpPr>
        <p:spPr>
          <a:xfrm>
            <a:off x="548640" y="4389120"/>
            <a:ext cx="4754880" cy="274320"/>
          </a:xfrm>
          <a:prstGeom prst="rect">
            <a:avLst/>
          </a:prstGeom>
          <a:noFill/>
          <a:ln/>
        </p:spPr>
        <p:txBody>
          <a:bodyPr wrap="square" lIns="0" tIns="0" rIns="0" bIns="0" rtlCol="0" anchor="ctr"/>
          <a:lstStyle/>
          <a:p>
            <a:pPr indent="0" marL="0">
              <a:buNone/>
            </a:pPr>
            <a:r>
              <a:rPr lang="en-US" sz="1400" dirty="0">
                <a:solidFill>
                  <a:schemeClr val="tx2"/>
                </a:solidFill>
              </a:rPr>
              <a:t>Pratham Tank  ·  Mahi Patel</a:t>
            </a:r>
            <a:endParaRPr lang="en-US" sz="1400" dirty="0"/>
          </a:p>
        </p:txBody>
      </p:sp>
      <p:sp>
        <p:nvSpPr>
          <p:cNvPr id="7" name="Window frame"/>
          <p:cNvSpPr/>
          <p:nvPr/>
        </p:nvSpPr>
        <p:spPr>
          <a:xfrm>
            <a:off x="5669280" y="914400"/>
            <a:ext cx="3017520" cy="2926080"/>
          </a:xfrm>
          <a:prstGeom prst="roundRect">
            <a:avLst>
              <a:gd name="adj" fmla="val 3125"/>
            </a:avLst>
          </a:prstGeom>
          <a:solidFill>
            <a:schemeClr val="bg2"/>
          </a:solidFill>
          <a:ln w="12700">
            <a:solidFill>
              <a:schemeClr val="accent6"/>
            </a:solidFill>
            <a:prstDash val="solid"/>
          </a:ln>
        </p:spPr>
      </p:sp>
      <p:sp>
        <p:nvSpPr>
          <p:cNvPr id="8" name="Window dot 1"/>
          <p:cNvSpPr/>
          <p:nvPr/>
        </p:nvSpPr>
        <p:spPr>
          <a:xfrm>
            <a:off x="5852160" y="1060704"/>
            <a:ext cx="109728" cy="109728"/>
          </a:xfrm>
          <a:prstGeom prst="ellipse">
            <a:avLst/>
          </a:prstGeom>
          <a:solidFill>
            <a:schemeClr val="accent3"/>
          </a:solidFill>
          <a:ln w="12700">
            <a:solidFill>
              <a:schemeClr val="accent3"/>
            </a:solidFill>
            <a:prstDash val="solid"/>
          </a:ln>
        </p:spPr>
      </p:sp>
      <p:sp>
        <p:nvSpPr>
          <p:cNvPr id="9" name="Window dot 2"/>
          <p:cNvSpPr/>
          <p:nvPr/>
        </p:nvSpPr>
        <p:spPr>
          <a:xfrm>
            <a:off x="6053328" y="1060704"/>
            <a:ext cx="109728" cy="109728"/>
          </a:xfrm>
          <a:prstGeom prst="ellipse">
            <a:avLst/>
          </a:prstGeom>
          <a:solidFill>
            <a:schemeClr val="accent1"/>
          </a:solidFill>
          <a:ln w="12700">
            <a:solidFill>
              <a:schemeClr val="accent1"/>
            </a:solidFill>
            <a:prstDash val="solid"/>
          </a:ln>
        </p:spPr>
      </p:sp>
      <p:sp>
        <p:nvSpPr>
          <p:cNvPr id="10" name="Window dot 3"/>
          <p:cNvSpPr/>
          <p:nvPr/>
        </p:nvSpPr>
        <p:spPr>
          <a:xfrm>
            <a:off x="6254496" y="1060704"/>
            <a:ext cx="109728" cy="109728"/>
          </a:xfrm>
          <a:prstGeom prst="ellipse">
            <a:avLst/>
          </a:prstGeom>
          <a:solidFill>
            <a:schemeClr val="accent2"/>
          </a:solidFill>
          <a:ln w="12700">
            <a:solidFill>
              <a:schemeClr val="accent2"/>
            </a:solidFill>
            <a:prstDash val="solid"/>
          </a:ln>
        </p:spPr>
      </p:sp>
      <p:sp>
        <p:nvSpPr>
          <p:cNvPr id="11" name="Pattern label 1"/>
          <p:cNvSpPr txBox="1"/>
          <p:nvPr/>
        </p:nvSpPr>
        <p:spPr>
          <a:xfrm>
            <a:off x="5852160" y="1371600"/>
            <a:ext cx="2651760" cy="256032"/>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mobile</a:t>
            </a:r>
            <a:endParaRPr lang="en-US" sz="1200" dirty="0"/>
          </a:p>
        </p:txBody>
      </p:sp>
      <p:sp>
        <p:nvSpPr>
          <p:cNvPr id="12" name="Pattern 1"/>
          <p:cNvSpPr txBox="1"/>
          <p:nvPr/>
        </p:nvSpPr>
        <p:spPr>
          <a:xfrm>
            <a:off x="5852160" y="1627632"/>
            <a:ext cx="2697480" cy="320040"/>
          </a:xfrm>
          <a:prstGeom prst="rect">
            <a:avLst/>
          </a:prstGeom>
          <a:noFill/>
          <a:ln/>
        </p:spPr>
        <p:txBody>
          <a:bodyPr wrap="square" lIns="0" tIns="0" rIns="0" bIns="0" rtlCol="0" anchor="ctr"/>
          <a:lstStyle/>
          <a:p>
            <a:pPr indent="0" marL="0">
              <a:buNone/>
            </a:pPr>
            <a:r>
              <a:rPr lang="en-US" sz="1200" dirty="0">
                <a:solidFill>
                  <a:schemeClr val="accent1"/>
                </a:solidFill>
                <a:latin typeface="+mj-lt" pitchFamily="34" charset="0"/>
                <a:ea typeface="+mj-lt" pitchFamily="34" charset="-122"/>
                <a:cs typeface="+mj-lt" pitchFamily="34" charset="-120"/>
              </a:rPr>
              <a:t>/^[6-9]\d{9}$/</a:t>
            </a:r>
            <a:endParaRPr lang="en-US" sz="1200" dirty="0"/>
          </a:p>
        </p:txBody>
      </p:sp>
      <p:sp>
        <p:nvSpPr>
          <p:cNvPr id="13" name="Pattern label 2"/>
          <p:cNvSpPr txBox="1"/>
          <p:nvPr/>
        </p:nvSpPr>
        <p:spPr>
          <a:xfrm>
            <a:off x="5852160" y="2148840"/>
            <a:ext cx="2651760" cy="256032"/>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pan</a:t>
            </a:r>
            <a:endParaRPr lang="en-US" sz="1200" dirty="0"/>
          </a:p>
        </p:txBody>
      </p:sp>
      <p:sp>
        <p:nvSpPr>
          <p:cNvPr id="14" name="Pattern 2"/>
          <p:cNvSpPr txBox="1"/>
          <p:nvPr/>
        </p:nvSpPr>
        <p:spPr>
          <a:xfrm>
            <a:off x="5852160" y="2404872"/>
            <a:ext cx="2697480" cy="320040"/>
          </a:xfrm>
          <a:prstGeom prst="rect">
            <a:avLst/>
          </a:prstGeom>
          <a:noFill/>
          <a:ln/>
        </p:spPr>
        <p:txBody>
          <a:bodyPr wrap="square" lIns="0" tIns="0" rIns="0" bIns="0" rtlCol="0" anchor="ctr"/>
          <a:lstStyle/>
          <a:p>
            <a:pPr indent="0" marL="0">
              <a:buNone/>
            </a:pPr>
            <a:r>
              <a:rPr lang="en-US" sz="1200" dirty="0">
                <a:solidFill>
                  <a:schemeClr val="accent2"/>
                </a:solidFill>
                <a:latin typeface="+mj-lt" pitchFamily="34" charset="0"/>
                <a:ea typeface="+mj-lt" pitchFamily="34" charset="-122"/>
                <a:cs typeface="+mj-lt" pitchFamily="34" charset="-120"/>
              </a:rPr>
              <a:t>/^[A-Z]{5}[0-9]{4}[A-Z]$/</a:t>
            </a:r>
            <a:endParaRPr lang="en-US" sz="1200" dirty="0"/>
          </a:p>
        </p:txBody>
      </p:sp>
      <p:sp>
        <p:nvSpPr>
          <p:cNvPr id="15" name="Pattern label 3"/>
          <p:cNvSpPr txBox="1"/>
          <p:nvPr/>
        </p:nvSpPr>
        <p:spPr>
          <a:xfrm>
            <a:off x="5852160" y="2926080"/>
            <a:ext cx="2651760" cy="256032"/>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aadhaar</a:t>
            </a:r>
            <a:endParaRPr lang="en-US" sz="1200" dirty="0"/>
          </a:p>
        </p:txBody>
      </p:sp>
      <p:sp>
        <p:nvSpPr>
          <p:cNvPr id="16" name="Pattern 3"/>
          <p:cNvSpPr txBox="1"/>
          <p:nvPr/>
        </p:nvSpPr>
        <p:spPr>
          <a:xfrm>
            <a:off x="5852160" y="3182112"/>
            <a:ext cx="2697480" cy="320040"/>
          </a:xfrm>
          <a:prstGeom prst="rect">
            <a:avLst/>
          </a:prstGeom>
          <a:noFill/>
          <a:ln/>
        </p:spPr>
        <p:txBody>
          <a:bodyPr wrap="square" lIns="0" tIns="0" rIns="0" bIns="0" rtlCol="0" anchor="ctr"/>
          <a:lstStyle/>
          <a:p>
            <a:pPr indent="0" marL="0">
              <a:buNone/>
            </a:pPr>
            <a:r>
              <a:rPr lang="en-US" sz="1200" dirty="0">
                <a:solidFill>
                  <a:schemeClr val="accent5"/>
                </a:solidFill>
                <a:latin typeface="+mj-lt" pitchFamily="34" charset="0"/>
                <a:ea typeface="+mj-lt" pitchFamily="34" charset="-122"/>
                <a:cs typeface="+mj-lt" pitchFamily="34" charset="-120"/>
              </a:rPr>
              <a:t>/^[2-9]\d{11}$/</a:t>
            </a:r>
            <a:endParaRPr lang="en-US" sz="1200" dirty="0"/>
          </a:p>
        </p:txBody>
      </p:sp>
    </p:spTree>
  </p:cSld>
  <p:clrMapOvr>
    <a:masterClrMapping/>
  </p:clrMapOvr>
</p:sld>
</file>

<file path=ppt/theme/theme1.xml><?xml version="1.0" encoding="utf-8"?>
<a:theme xmlns:a="http://schemas.openxmlformats.org/drawingml/2006/main" name="Terminal Amber">
  <a:themeElements>
    <a:clrScheme name="Terminal Amber">
      <a:dk1>
        <a:srgbClr val="EDEAE2"/>
      </a:dk1>
      <a:lt1>
        <a:srgbClr val="14161A"/>
      </a:lt1>
      <a:dk2>
        <a:srgbClr val="9AA3AD"/>
      </a:dk2>
      <a:lt2>
        <a:srgbClr val="1F232A"/>
      </a:lt2>
      <a:accent1>
        <a:srgbClr val="F2B134"/>
      </a:accent1>
      <a:accent2>
        <a:srgbClr val="5EEAB4"/>
      </a:accent2>
      <a:accent3>
        <a:srgbClr val="FF6B5E"/>
      </a:accent3>
      <a:accent4>
        <a:srgbClr val="7AA2F7"/>
      </a:accent4>
      <a:accent5>
        <a:srgbClr val="C792EA"/>
      </a:accent5>
      <a:accent6>
        <a:srgbClr val="3A414B"/>
      </a:accent6>
      <a:hlink>
        <a:srgbClr val="F2B134"/>
      </a:hlink>
      <a:folHlink>
        <a:srgbClr val="C792EA"/>
      </a:folHlink>
    </a:clrScheme>
    <a:fontScheme name="Terminal Amber">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Aadhaar / PAN / Mobile Number Validator</dc:title>
  <dc:subject>PptxGenJS Presentation</dc:subject>
  <dc:creator>Pratham Tank, Mahi Patel</dc:creator>
  <cp:lastModifiedBy>Pratham Tank, Mahi Patel</cp:lastModifiedBy>
  <cp:revision>1</cp:revision>
  <dcterms:created xsi:type="dcterms:W3CDTF">2026-10-25T14:50:07Z</dcterms:created>
  <dcterms:modified xsi:type="dcterms:W3CDTF">2026-10-25T14:50:07Z</dcterms:modified>
</cp:coreProperties>
</file>